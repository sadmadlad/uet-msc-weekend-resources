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44"/>
  </p:notesMasterIdLst>
  <p:handoutMasterIdLst>
    <p:handoutMasterId r:id="rId45"/>
  </p:handoutMasterIdLst>
  <p:sldIdLst>
    <p:sldId id="331" r:id="rId2"/>
    <p:sldId id="332" r:id="rId3"/>
    <p:sldId id="333" r:id="rId4"/>
    <p:sldId id="334" r:id="rId5"/>
    <p:sldId id="358" r:id="rId6"/>
    <p:sldId id="335" r:id="rId7"/>
    <p:sldId id="364" r:id="rId8"/>
    <p:sldId id="338" r:id="rId9"/>
    <p:sldId id="365" r:id="rId10"/>
    <p:sldId id="366" r:id="rId11"/>
    <p:sldId id="367" r:id="rId12"/>
    <p:sldId id="373" r:id="rId13"/>
    <p:sldId id="336" r:id="rId14"/>
    <p:sldId id="337" r:id="rId15"/>
    <p:sldId id="339" r:id="rId16"/>
    <p:sldId id="340" r:id="rId17"/>
    <p:sldId id="341" r:id="rId18"/>
    <p:sldId id="342" r:id="rId19"/>
    <p:sldId id="343" r:id="rId20"/>
    <p:sldId id="344" r:id="rId21"/>
    <p:sldId id="345" r:id="rId22"/>
    <p:sldId id="346" r:id="rId23"/>
    <p:sldId id="347" r:id="rId24"/>
    <p:sldId id="359" r:id="rId25"/>
    <p:sldId id="348" r:id="rId26"/>
    <p:sldId id="349" r:id="rId27"/>
    <p:sldId id="360" r:id="rId28"/>
    <p:sldId id="350" r:id="rId29"/>
    <p:sldId id="361" r:id="rId30"/>
    <p:sldId id="352" r:id="rId31"/>
    <p:sldId id="362" r:id="rId32"/>
    <p:sldId id="351" r:id="rId33"/>
    <p:sldId id="368" r:id="rId34"/>
    <p:sldId id="353" r:id="rId35"/>
    <p:sldId id="369" r:id="rId36"/>
    <p:sldId id="354" r:id="rId37"/>
    <p:sldId id="371" r:id="rId38"/>
    <p:sldId id="372" r:id="rId39"/>
    <p:sldId id="370" r:id="rId40"/>
    <p:sldId id="355" r:id="rId41"/>
    <p:sldId id="356" r:id="rId42"/>
    <p:sldId id="357" r:id="rId43"/>
  </p:sldIdLst>
  <p:sldSz cx="9144000" cy="6858000" type="screen4x3"/>
  <p:notesSz cx="7086600" cy="93726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58" autoAdjust="0"/>
    <p:restoredTop sz="94667"/>
  </p:normalViewPr>
  <p:slideViewPr>
    <p:cSldViewPr snapToGrid="0">
      <p:cViewPr varScale="1">
        <p:scale>
          <a:sx n="59" d="100"/>
          <a:sy n="59" d="100"/>
        </p:scale>
        <p:origin x="1280" y="52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71F11CD9-AC1B-C542-AFD2-662F972728B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06738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D438D7C0-6288-1E47-B81E-5C28781B85C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94150" y="0"/>
            <a:ext cx="3105150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algn="r"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4F0C8DF6-6467-BE43-A730-590E055612B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39213"/>
            <a:ext cx="3106738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661BC3FE-2EE4-3240-B00E-8C2726559531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94150" y="8939213"/>
            <a:ext cx="3105150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algn="r" defTabSz="890588">
              <a:defRPr sz="1100">
                <a:latin typeface="Helvetica" pitchFamily="2" charset="0"/>
              </a:defRPr>
            </a:lvl1pPr>
          </a:lstStyle>
          <a:p>
            <a:pPr>
              <a:defRPr/>
            </a:pPr>
            <a:fld id="{FFFBBBBF-8BC8-4E37-B509-65EB2F23007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CA66058-CB98-0649-90B5-CCDFB2BDA93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A01FBFB-4623-F84F-8147-A465333D542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16375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algn="r"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779036B5-ADD9-4238-9FD6-8A24FE93F7C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0150" y="704850"/>
            <a:ext cx="4687888" cy="3514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D43FE0D4-EC38-9045-82DF-3C1463D48C1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452938"/>
            <a:ext cx="5197475" cy="421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71A15936-C650-B84E-8492-C4DE86D2DCB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C0245F58-33FF-F144-B163-F17D285565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algn="r" defTabSz="939800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302841D2-82CE-4D2C-AC23-7155FD278E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>
            <a:extLst>
              <a:ext uri="{FF2B5EF4-FFF2-40B4-BE49-F238E27FC236}">
                <a16:creationId xmlns:a16="http://schemas.microsoft.com/office/drawing/2014/main" id="{7C9C1967-CB66-494E-B886-2AD573C5CB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82F4955-E5A0-4A37-BC95-FD265784B473}" type="slidenum">
              <a:rPr lang="en-US" altLang="en-US" sz="1300" smtClean="0">
                <a:latin typeface="Helvetica" panose="020B0604020202020204" pitchFamily="34" charset="0"/>
              </a:rPr>
              <a:pPr/>
              <a:t>1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D6D18793-BD8A-4940-B3BF-1E06253743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B8993DB-1A54-4695-9549-CD9B72133F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>
            <a:extLst>
              <a:ext uri="{FF2B5EF4-FFF2-40B4-BE49-F238E27FC236}">
                <a16:creationId xmlns:a16="http://schemas.microsoft.com/office/drawing/2014/main" id="{4D796343-F2C6-41D1-AC37-43C10B5EF8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1F0AFAE-FA20-4437-830A-0F0A930521E5}" type="slidenum">
              <a:rPr lang="en-US" altLang="en-US" sz="1300" smtClean="0">
                <a:latin typeface="Helvetica" panose="020B0604020202020204" pitchFamily="34" charset="0"/>
              </a:rPr>
              <a:pPr/>
              <a:t>2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90292C2D-7EEB-40BD-B317-7EF9385AEB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393EA60A-DD78-4053-9698-3B0E52BC78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>
            <a:extLst>
              <a:ext uri="{FF2B5EF4-FFF2-40B4-BE49-F238E27FC236}">
                <a16:creationId xmlns:a16="http://schemas.microsoft.com/office/drawing/2014/main" id="{7D44297C-F64E-4FD8-AB05-9FE446E63F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0EE27B9-A770-4F75-B804-D9E443B568A4}" type="slidenum">
              <a:rPr lang="en-US" altLang="en-US" sz="1300" smtClean="0">
                <a:latin typeface="Helvetica" panose="020B0604020202020204" pitchFamily="34" charset="0"/>
              </a:rPr>
              <a:pPr/>
              <a:t>3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A4B90040-2BA6-4402-84E5-3577AAB930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7C7D3491-5020-4E6A-98B6-65D151B9D1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>
            <a:extLst>
              <a:ext uri="{FF2B5EF4-FFF2-40B4-BE49-F238E27FC236}">
                <a16:creationId xmlns:a16="http://schemas.microsoft.com/office/drawing/2014/main" id="{6B5CA1BE-F214-4A09-AD21-E2F2D06D92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B6B971B-1971-44D2-A9EE-AD65F528618A}" type="slidenum">
              <a:rPr lang="en-US" altLang="en-US" sz="1300" smtClean="0">
                <a:latin typeface="Helvetica" panose="020B0604020202020204" pitchFamily="34" charset="0"/>
              </a:rPr>
              <a:pPr/>
              <a:t>4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4422ABD3-8729-4962-9BC3-34270C9914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D83C6845-9146-4B91-9035-F050D63E57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>
            <a:extLst>
              <a:ext uri="{FF2B5EF4-FFF2-40B4-BE49-F238E27FC236}">
                <a16:creationId xmlns:a16="http://schemas.microsoft.com/office/drawing/2014/main" id="{0C2F6CE6-6726-4F1C-B8DB-210D072679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914DFAC-88B2-4186-BD4C-0EC113119D01}" type="slidenum">
              <a:rPr lang="en-US" altLang="en-US" sz="1300" smtClean="0">
                <a:latin typeface="Helvetica" panose="020B0604020202020204" pitchFamily="34" charset="0"/>
              </a:rPr>
              <a:pPr/>
              <a:t>5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D18B3591-4F56-436B-AAA9-14A983B6CC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A22CFA24-2C09-40D9-BD35-DCDDC17524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7B89BD32-2B27-436D-8803-6790479CFA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9F55662-F288-42E5-BBFA-E755D8C21323}" type="slidenum">
              <a:rPr lang="en-US" altLang="en-US" sz="1300" smtClean="0">
                <a:latin typeface="Helvetica" panose="020B0604020202020204" pitchFamily="34" charset="0"/>
              </a:rPr>
              <a:pPr/>
              <a:t>6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11FC86C0-1334-48B6-AB50-E76B05D110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24337E54-5D92-4B90-BE9F-4347EB6FBA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9E9B5BE7-85FA-4726-8ED6-BFDC119011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E07E97C-18C1-4A53-A749-AA4B26C71BEF}" type="slidenum">
              <a:rPr lang="en-US" altLang="en-US" sz="1300" smtClean="0">
                <a:latin typeface="Helvetica" panose="020B0604020202020204" pitchFamily="34" charset="0"/>
              </a:rPr>
              <a:pPr/>
              <a:t>7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B5FA514D-6878-423F-AD3C-887FDFEDBA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7036E3EB-1F25-4A5F-855F-E7A2FF0639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>
            <a:extLst>
              <a:ext uri="{FF2B5EF4-FFF2-40B4-BE49-F238E27FC236}">
                <a16:creationId xmlns:a16="http://schemas.microsoft.com/office/drawing/2014/main" id="{B8C95C29-84FE-451B-BDF0-A0286A8D1E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E43CE87-019F-4B28-A7BE-871FA88AAD66}" type="slidenum">
              <a:rPr lang="en-US" altLang="en-US" sz="1300" smtClean="0">
                <a:latin typeface="Helvetica" panose="020B0604020202020204" pitchFamily="34" charset="0"/>
              </a:rPr>
              <a:pPr/>
              <a:t>8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E064B55F-E002-4B9D-B863-8BEFFB07F5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930C6CC6-35A2-4A1E-82F2-7379EF3DD0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>
            <a:extLst>
              <a:ext uri="{FF2B5EF4-FFF2-40B4-BE49-F238E27FC236}">
                <a16:creationId xmlns:a16="http://schemas.microsoft.com/office/drawing/2014/main" id="{BA198B35-84C2-431B-9FA4-43193BDF83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90AF2B8-4378-4F58-B680-900DFEC61252}" type="slidenum">
              <a:rPr lang="en-US" altLang="en-US" sz="1300" smtClean="0">
                <a:latin typeface="Helvetica" panose="020B0604020202020204" pitchFamily="34" charset="0"/>
              </a:rPr>
              <a:pPr/>
              <a:t>9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21BF3090-4EE5-43A1-8683-4D7AD39B8E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7EDDCE08-FCD8-4632-BD2D-3B08F1956A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>
            <a:extLst>
              <a:ext uri="{FF2B5EF4-FFF2-40B4-BE49-F238E27FC236}">
                <a16:creationId xmlns:a16="http://schemas.microsoft.com/office/drawing/2014/main" id="{BD605AD3-1939-4F2C-B653-56EB845D0A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5C39858-98BC-4B9A-B2D0-A8C296E28CB0}" type="slidenum">
              <a:rPr lang="en-US" altLang="en-US" sz="1300" smtClean="0">
                <a:latin typeface="Helvetica" panose="020B0604020202020204" pitchFamily="34" charset="0"/>
              </a:rPr>
              <a:pPr/>
              <a:t>13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8F0B4FB4-AE27-4782-B578-AE56CBF52C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66F9DFF8-6602-4353-9EE1-4F5CE84A51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>
            <a:extLst>
              <a:ext uri="{FF2B5EF4-FFF2-40B4-BE49-F238E27FC236}">
                <a16:creationId xmlns:a16="http://schemas.microsoft.com/office/drawing/2014/main" id="{B9A1E58B-FC87-4BA0-A744-1D17757A6B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AB51C17-02EF-4A81-8B55-0082E7C16BAB}" type="slidenum">
              <a:rPr lang="en-US" altLang="en-US" sz="1300" smtClean="0">
                <a:latin typeface="Helvetica" panose="020B0604020202020204" pitchFamily="34" charset="0"/>
              </a:rPr>
              <a:pPr/>
              <a:t>14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EF77937A-6685-46DF-B772-D7D4AECED0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70FF0DD3-A38C-48D9-AF43-FA63FE97CB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136DFEA7-C36C-42C1-B567-1EA61D6A2F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891037B-5D96-42AF-9A59-DC8F0F0BC273}" type="slidenum">
              <a:rPr lang="en-US" altLang="en-US" sz="1300" smtClean="0">
                <a:latin typeface="Helvetica" panose="020B0604020202020204" pitchFamily="34" charset="0"/>
              </a:rPr>
              <a:pPr/>
              <a:t>16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A912FA86-2F35-467F-8200-B58B0320B5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565A6BE4-D73E-4BD5-B635-15ED414E62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>
            <a:extLst>
              <a:ext uri="{FF2B5EF4-FFF2-40B4-BE49-F238E27FC236}">
                <a16:creationId xmlns:a16="http://schemas.microsoft.com/office/drawing/2014/main" id="{747A3C1C-6E29-43B9-A80D-2D3084CAE5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8CB2AE4-6220-4AF6-80F6-B5EB015BFA72}" type="slidenum">
              <a:rPr lang="en-US" altLang="en-US" sz="1300" smtClean="0">
                <a:latin typeface="Helvetica" panose="020B0604020202020204" pitchFamily="34" charset="0"/>
              </a:rPr>
              <a:pPr/>
              <a:t>17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B063748B-7419-4B9E-9D0F-673698D22F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103C932D-42DD-44DF-BF94-137A0893E0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>
            <a:extLst>
              <a:ext uri="{FF2B5EF4-FFF2-40B4-BE49-F238E27FC236}">
                <a16:creationId xmlns:a16="http://schemas.microsoft.com/office/drawing/2014/main" id="{E9367072-890D-4FC0-9D3E-E54EBE1866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CDFF574-09AE-46F9-8FD7-639A9996326F}" type="slidenum">
              <a:rPr lang="en-US" altLang="en-US" sz="1300" smtClean="0">
                <a:latin typeface="Helvetica" panose="020B0604020202020204" pitchFamily="34" charset="0"/>
              </a:rPr>
              <a:pPr/>
              <a:t>18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95A6E07E-7FE8-44FF-8A05-E4B101F63E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B53CB9C4-A6B3-4121-A329-2ED48A0FB6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>
            <a:extLst>
              <a:ext uri="{FF2B5EF4-FFF2-40B4-BE49-F238E27FC236}">
                <a16:creationId xmlns:a16="http://schemas.microsoft.com/office/drawing/2014/main" id="{A8FF5E5B-7101-4CD1-B62C-B7BC5BA155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5B67219-1C93-4D0A-8BAE-B52FE0621E01}" type="slidenum">
              <a:rPr lang="en-US" altLang="en-US" sz="1300" smtClean="0">
                <a:latin typeface="Helvetica" panose="020B0604020202020204" pitchFamily="34" charset="0"/>
              </a:rPr>
              <a:pPr/>
              <a:t>19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4E5B7F28-425C-44CF-8487-5BC53A6CD3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B012F251-8E9E-4F8D-B346-424A112557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334DB2B7-D66F-4C66-8AB5-15E5DECBF4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C7DD8D4-6E96-4D98-9208-0B87B1F02EC5}" type="slidenum">
              <a:rPr lang="en-US" altLang="en-US" sz="1300" smtClean="0">
                <a:latin typeface="Helvetica" panose="020B0604020202020204" pitchFamily="34" charset="0"/>
              </a:rPr>
              <a:pPr/>
              <a:t>20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1F69A33A-AAC3-44B2-BF5A-55487C9A90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D5C53B14-4320-4673-9DF6-EDCF763D82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>
            <a:extLst>
              <a:ext uri="{FF2B5EF4-FFF2-40B4-BE49-F238E27FC236}">
                <a16:creationId xmlns:a16="http://schemas.microsoft.com/office/drawing/2014/main" id="{E92F4D9A-006B-40F4-B5C6-0D45AE1CA8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3F5FCD8-1A32-46A6-8FA9-243B4B7355B6}" type="slidenum">
              <a:rPr lang="en-US" altLang="en-US" sz="1300" smtClean="0">
                <a:latin typeface="Helvetica" panose="020B0604020202020204" pitchFamily="34" charset="0"/>
              </a:rPr>
              <a:pPr/>
              <a:t>21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5AC29156-B98A-4F26-A2D1-485651491B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00993E78-5C47-415D-ADE7-37857F6917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>
            <a:extLst>
              <a:ext uri="{FF2B5EF4-FFF2-40B4-BE49-F238E27FC236}">
                <a16:creationId xmlns:a16="http://schemas.microsoft.com/office/drawing/2014/main" id="{1C476484-38A6-49AB-8E35-48EE2536AF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FFA7CCC-62CB-4415-AE7C-F1D4BAF3DA20}" type="slidenum">
              <a:rPr lang="en-US" altLang="en-US" sz="1300" smtClean="0">
                <a:latin typeface="Helvetica" panose="020B0604020202020204" pitchFamily="34" charset="0"/>
              </a:rPr>
              <a:pPr/>
              <a:t>22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BC081410-D8A5-4C2A-BF7E-8D3F3445E4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D5EA7D96-E24B-4813-B8A5-45DD592402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>
            <a:extLst>
              <a:ext uri="{FF2B5EF4-FFF2-40B4-BE49-F238E27FC236}">
                <a16:creationId xmlns:a16="http://schemas.microsoft.com/office/drawing/2014/main" id="{210D54DE-B5CC-409B-8B91-9D6A9DC3FA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16A2360-1AC0-418F-8DEF-ED0408F667ED}" type="slidenum">
              <a:rPr lang="en-US" altLang="en-US" sz="1300" smtClean="0">
                <a:latin typeface="Helvetica" panose="020B0604020202020204" pitchFamily="34" charset="0"/>
              </a:rPr>
              <a:pPr/>
              <a:t>23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A05BDC6C-A094-4FFA-A17B-FF4FA5A0B7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1DB10837-BD94-4678-90CF-312F82D9E2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>
            <a:extLst>
              <a:ext uri="{FF2B5EF4-FFF2-40B4-BE49-F238E27FC236}">
                <a16:creationId xmlns:a16="http://schemas.microsoft.com/office/drawing/2014/main" id="{3476707D-C474-4D95-898C-65B285BBDE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CA8B9A4-C219-41BB-B4BE-039AF1D8DD98}" type="slidenum">
              <a:rPr lang="en-US" altLang="en-US" sz="1300" smtClean="0">
                <a:latin typeface="Helvetica" panose="020B0604020202020204" pitchFamily="34" charset="0"/>
              </a:rPr>
              <a:pPr/>
              <a:t>24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B8764EAA-C1D7-48B4-B5B2-ECE43AF5C6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446ED580-944C-4F49-98E0-FD3CB2FEAD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7">
            <a:extLst>
              <a:ext uri="{FF2B5EF4-FFF2-40B4-BE49-F238E27FC236}">
                <a16:creationId xmlns:a16="http://schemas.microsoft.com/office/drawing/2014/main" id="{E7FF55E0-D12B-4CCF-BA66-0A16AFC8A5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7414D0A-E16E-419E-99B7-FE89FC41B14F}" type="slidenum">
              <a:rPr lang="en-US" altLang="en-US" sz="1300" smtClean="0">
                <a:latin typeface="Helvetica" panose="020B0604020202020204" pitchFamily="34" charset="0"/>
              </a:rPr>
              <a:pPr/>
              <a:t>30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55298" name="Rectangle 2">
            <a:extLst>
              <a:ext uri="{FF2B5EF4-FFF2-40B4-BE49-F238E27FC236}">
                <a16:creationId xmlns:a16="http://schemas.microsoft.com/office/drawing/2014/main" id="{3F50F4F1-5E37-4266-9D12-FF15C7365E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493BCC06-45DB-4122-A909-C7FFB13175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7">
            <a:extLst>
              <a:ext uri="{FF2B5EF4-FFF2-40B4-BE49-F238E27FC236}">
                <a16:creationId xmlns:a16="http://schemas.microsoft.com/office/drawing/2014/main" id="{D4E57D3E-1B87-47B5-9A28-1499EB01A9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7DAA4BA-5753-496D-9B4A-DD5800ADC22F}" type="slidenum">
              <a:rPr lang="en-US" altLang="en-US" sz="1300" smtClean="0">
                <a:latin typeface="Helvetica" panose="020B0604020202020204" pitchFamily="34" charset="0"/>
              </a:rPr>
              <a:pPr/>
              <a:t>31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57346" name="Rectangle 2">
            <a:extLst>
              <a:ext uri="{FF2B5EF4-FFF2-40B4-BE49-F238E27FC236}">
                <a16:creationId xmlns:a16="http://schemas.microsoft.com/office/drawing/2014/main" id="{A5BA489C-EEA6-4216-B6A8-EC10950C17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574A9A04-532D-42C3-98CE-556251E76F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>
            <a:extLst>
              <a:ext uri="{FF2B5EF4-FFF2-40B4-BE49-F238E27FC236}">
                <a16:creationId xmlns:a16="http://schemas.microsoft.com/office/drawing/2014/main" id="{9B997F75-A222-4979-B18A-3BBC87C200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FF0D09E-737B-4477-A68C-CFA4D46BC8B3}" type="slidenum">
              <a:rPr lang="en-US" altLang="en-US" sz="1300" smtClean="0">
                <a:latin typeface="Helvetica" panose="020B0604020202020204" pitchFamily="34" charset="0"/>
              </a:rPr>
              <a:pPr/>
              <a:t>32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146586BF-A3DE-4249-8240-5BCA6139AA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6735BF4A-6AA3-4872-9C09-8292B5C38B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7">
            <a:extLst>
              <a:ext uri="{FF2B5EF4-FFF2-40B4-BE49-F238E27FC236}">
                <a16:creationId xmlns:a16="http://schemas.microsoft.com/office/drawing/2014/main" id="{2FA5FEF7-3E99-424A-815A-99C396A7B6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29E98FB-3206-40B1-B7FC-22803B621C1E}" type="slidenum">
              <a:rPr lang="en-US" altLang="en-US" sz="1300" smtClean="0">
                <a:latin typeface="Helvetica" panose="020B0604020202020204" pitchFamily="34" charset="0"/>
              </a:rPr>
              <a:pPr/>
              <a:t>33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61442" name="Rectangle 2">
            <a:extLst>
              <a:ext uri="{FF2B5EF4-FFF2-40B4-BE49-F238E27FC236}">
                <a16:creationId xmlns:a16="http://schemas.microsoft.com/office/drawing/2014/main" id="{B7423F34-8297-47E7-BF7D-AC7C199847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2C7BA516-E844-42B0-B0E0-635FEB2977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7">
            <a:extLst>
              <a:ext uri="{FF2B5EF4-FFF2-40B4-BE49-F238E27FC236}">
                <a16:creationId xmlns:a16="http://schemas.microsoft.com/office/drawing/2014/main" id="{6DE22DBF-A199-4170-871F-4E044887EC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B3B375B-87CB-46F9-9388-73F7A492A17D}" type="slidenum">
              <a:rPr lang="en-US" altLang="en-US" sz="1300" smtClean="0">
                <a:latin typeface="Helvetica" panose="020B0604020202020204" pitchFamily="34" charset="0"/>
              </a:rPr>
              <a:pPr/>
              <a:t>34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63490" name="Rectangle 2">
            <a:extLst>
              <a:ext uri="{FF2B5EF4-FFF2-40B4-BE49-F238E27FC236}">
                <a16:creationId xmlns:a16="http://schemas.microsoft.com/office/drawing/2014/main" id="{A81A630D-E927-4DCF-A529-D87BC6F46B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60C6EDB6-A1FB-4CDF-A76D-D179F08F90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>
            <a:extLst>
              <a:ext uri="{FF2B5EF4-FFF2-40B4-BE49-F238E27FC236}">
                <a16:creationId xmlns:a16="http://schemas.microsoft.com/office/drawing/2014/main" id="{DC5C26EC-E68C-4492-A9CA-C07B410E3C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EE6E197-47A0-41B5-84A1-628D96B76292}" type="slidenum">
              <a:rPr lang="en-US" altLang="en-US" sz="1300" smtClean="0">
                <a:latin typeface="Helvetica" panose="020B0604020202020204" pitchFamily="34" charset="0"/>
              </a:rPr>
              <a:pPr/>
              <a:t>36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66562" name="Rectangle 2">
            <a:extLst>
              <a:ext uri="{FF2B5EF4-FFF2-40B4-BE49-F238E27FC236}">
                <a16:creationId xmlns:a16="http://schemas.microsoft.com/office/drawing/2014/main" id="{460E72AF-9ED1-4F61-BCAA-B33D5CBD1D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D223A6E4-3051-4033-AE66-F061D77B24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7">
            <a:extLst>
              <a:ext uri="{FF2B5EF4-FFF2-40B4-BE49-F238E27FC236}">
                <a16:creationId xmlns:a16="http://schemas.microsoft.com/office/drawing/2014/main" id="{F5A9B921-39B5-41E1-9838-C7C5819CC3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7A00F89-3F2A-4931-BEF2-77A8764DC673}" type="slidenum">
              <a:rPr lang="en-US" altLang="en-US" sz="1300" smtClean="0">
                <a:latin typeface="Helvetica" panose="020B0604020202020204" pitchFamily="34" charset="0"/>
              </a:rPr>
              <a:pPr/>
              <a:t>37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68610" name="Rectangle 2">
            <a:extLst>
              <a:ext uri="{FF2B5EF4-FFF2-40B4-BE49-F238E27FC236}">
                <a16:creationId xmlns:a16="http://schemas.microsoft.com/office/drawing/2014/main" id="{C56A4C7C-459C-4ACC-8B72-75293AEF61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BEB3D07F-2A56-4F9A-ADD1-24FCABDA1A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7">
            <a:extLst>
              <a:ext uri="{FF2B5EF4-FFF2-40B4-BE49-F238E27FC236}">
                <a16:creationId xmlns:a16="http://schemas.microsoft.com/office/drawing/2014/main" id="{8331ED9D-6833-4283-8B42-F72CFDAE4B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BFF6B38-0D4B-451B-9135-CC2261C2954B}" type="slidenum">
              <a:rPr lang="en-US" altLang="en-US" sz="1300" smtClean="0">
                <a:latin typeface="Helvetica" panose="020B0604020202020204" pitchFamily="34" charset="0"/>
              </a:rPr>
              <a:pPr/>
              <a:t>38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70658" name="Rectangle 2">
            <a:extLst>
              <a:ext uri="{FF2B5EF4-FFF2-40B4-BE49-F238E27FC236}">
                <a16:creationId xmlns:a16="http://schemas.microsoft.com/office/drawing/2014/main" id="{439DC771-8E56-4E2C-92D7-96E0CA7899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20C1BAFE-1788-4CFD-8BB3-60488652D3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>
            <a:extLst>
              <a:ext uri="{FF2B5EF4-FFF2-40B4-BE49-F238E27FC236}">
                <a16:creationId xmlns:a16="http://schemas.microsoft.com/office/drawing/2014/main" id="{44932A1A-A5E0-4582-8848-88E9D8FE2C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E9B3FAC-CADF-409F-9A5E-2BC3FD116C6B}" type="slidenum">
              <a:rPr lang="en-US" altLang="en-US" sz="1300" smtClean="0">
                <a:latin typeface="Helvetica" panose="020B0604020202020204" pitchFamily="34" charset="0"/>
              </a:rPr>
              <a:pPr/>
              <a:t>39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72706" name="Rectangle 2">
            <a:extLst>
              <a:ext uri="{FF2B5EF4-FFF2-40B4-BE49-F238E27FC236}">
                <a16:creationId xmlns:a16="http://schemas.microsoft.com/office/drawing/2014/main" id="{E00A515C-3C5A-4388-A085-2475C26093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3503F7A7-17BF-452F-BB9D-8EB14D7E2A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7">
            <a:extLst>
              <a:ext uri="{FF2B5EF4-FFF2-40B4-BE49-F238E27FC236}">
                <a16:creationId xmlns:a16="http://schemas.microsoft.com/office/drawing/2014/main" id="{D6E8735C-7EDD-480D-832F-973411E1E3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E84BD52-0741-4BC7-BDB7-3969E5B6391D}" type="slidenum">
              <a:rPr lang="en-US" altLang="en-US" sz="1300" smtClean="0">
                <a:latin typeface="Helvetica" panose="020B0604020202020204" pitchFamily="34" charset="0"/>
              </a:rPr>
              <a:pPr/>
              <a:t>40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74754" name="Rectangle 2">
            <a:extLst>
              <a:ext uri="{FF2B5EF4-FFF2-40B4-BE49-F238E27FC236}">
                <a16:creationId xmlns:a16="http://schemas.microsoft.com/office/drawing/2014/main" id="{DCA8B074-C630-4FE3-A3B4-CFA1D3D0F9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28BB4345-BB6B-40CF-A17F-0D028A2623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7">
            <a:extLst>
              <a:ext uri="{FF2B5EF4-FFF2-40B4-BE49-F238E27FC236}">
                <a16:creationId xmlns:a16="http://schemas.microsoft.com/office/drawing/2014/main" id="{F709F473-CA11-47C3-B942-BFF143D723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B51AD96-D802-4D07-9373-D48DA2CCC85A}" type="slidenum">
              <a:rPr lang="en-US" altLang="en-US" sz="1300" smtClean="0">
                <a:latin typeface="Helvetica" panose="020B0604020202020204" pitchFamily="34" charset="0"/>
              </a:rPr>
              <a:pPr/>
              <a:t>41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76802" name="Rectangle 2">
            <a:extLst>
              <a:ext uri="{FF2B5EF4-FFF2-40B4-BE49-F238E27FC236}">
                <a16:creationId xmlns:a16="http://schemas.microsoft.com/office/drawing/2014/main" id="{CE0D65FE-1BA4-4F37-A229-7C27076FC6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2230C264-7A0E-4776-933A-9950B9801C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7">
            <a:extLst>
              <a:ext uri="{FF2B5EF4-FFF2-40B4-BE49-F238E27FC236}">
                <a16:creationId xmlns:a16="http://schemas.microsoft.com/office/drawing/2014/main" id="{FB6917AA-55C5-4BB7-BBD9-52E143618A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90A2E10-10F0-4F8E-9065-1A9E2A4C4E73}" type="slidenum">
              <a:rPr lang="en-US" altLang="en-US" sz="1300" smtClean="0">
                <a:latin typeface="Helvetica" panose="020B0604020202020204" pitchFamily="34" charset="0"/>
              </a:rPr>
              <a:pPr/>
              <a:t>42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78850" name="Rectangle 2">
            <a:extLst>
              <a:ext uri="{FF2B5EF4-FFF2-40B4-BE49-F238E27FC236}">
                <a16:creationId xmlns:a16="http://schemas.microsoft.com/office/drawing/2014/main" id="{59C74330-164D-47B7-BB08-D6BFA04DB4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43857920-A785-4F76-B5B6-2090EBFC15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94588712-34F6-4B9C-B462-6CB4B3F7480D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01E6DB68-ED2D-4EAB-85AC-A6ADE57643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F563FB48-BB35-4250-AACB-9128BCAB37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556CFDA5-CC7A-4E1D-993C-CCD0B375FA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F58C15C1-9324-44E9-92EB-5DFFD0021D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9A8922F5-BC01-4D2D-A956-597757FD83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04733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B2313F49-839C-4AD8-B3A5-6A227D4439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0E6ACBDF-567A-484F-A3B8-407414EA2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3261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01396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14765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399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2860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36599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676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74927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0850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87767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09854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E9E6F5B5-53C5-4795-9EBE-5EAAB2EA57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DB8D9188-9B27-4034-9473-F91DF5B6B0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84738" y="251437"/>
            <a:ext cx="7549662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406F0AE-7ECB-4AE6-9DF3-AFEB81945E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619CF8E-4E00-1D43-83D4-EC13EF05BB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E2B0471C-DA29-4603-B073-C1FA7CEB1C0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CADB883C-0964-AF4B-8A2B-78AC387134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5A7FE80D-D9BB-FB41-958F-26F23AB98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9BE05D9F-FF41-4F44-822D-E4DAF257627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221163" y="6613525"/>
            <a:ext cx="51752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itchFamily="2" charset="0"/>
              </a:rPr>
              <a:t>17.</a:t>
            </a:r>
            <a:fld id="{40720326-97D6-4F63-A380-127521996EE1}" type="slidenum">
              <a:rPr lang="en-US" altLang="en-US" sz="1000" b="1" smtClean="0">
                <a:solidFill>
                  <a:srgbClr val="006699"/>
                </a:solidFill>
                <a:latin typeface="Helvetica" pitchFamily="2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pitchFamily="2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890BDF2E-BB0D-9E49-B8B0-794EE3ED13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180896E3-7D72-3E4C-A183-1E72126E5A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C1001A55-9F47-4B3F-901A-2FDABC7F79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9" r:id="rId1"/>
    <p:sldLayoutId id="2147484049" r:id="rId2"/>
    <p:sldLayoutId id="2147484050" r:id="rId3"/>
    <p:sldLayoutId id="2147484051" r:id="rId4"/>
    <p:sldLayoutId id="2147484052" r:id="rId5"/>
    <p:sldLayoutId id="2147484053" r:id="rId6"/>
    <p:sldLayoutId id="2147484054" r:id="rId7"/>
    <p:sldLayoutId id="2147484055" r:id="rId8"/>
    <p:sldLayoutId id="2147484056" r:id="rId9"/>
    <p:sldLayoutId id="2147484057" r:id="rId10"/>
    <p:sldLayoutId id="214748405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id="{588ED47B-AF69-4DE4-9B07-5BC1C9E0B55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817563"/>
            <a:ext cx="7772400" cy="2128837"/>
          </a:xfrm>
        </p:spPr>
        <p:txBody>
          <a:bodyPr/>
          <a:lstStyle/>
          <a:p>
            <a:pPr eaLnBrk="1" hangingPunct="1"/>
            <a:r>
              <a:rPr lang="en-US" altLang="en-US"/>
              <a:t>Chapter 17:  Protection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>
            <a:extLst>
              <a:ext uri="{FF2B5EF4-FFF2-40B4-BE49-F238E27FC236}">
                <a16:creationId xmlns:a16="http://schemas.microsoft.com/office/drawing/2014/main" id="{95088177-D695-41C6-AF93-E1B79E029B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6406" y="242923"/>
            <a:ext cx="77184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17: Protection</a:t>
            </a:r>
            <a:endParaRPr lang="en-US" altLang="en-US" b="0" dirty="0"/>
          </a:p>
        </p:txBody>
      </p:sp>
      <p:sp>
        <p:nvSpPr>
          <p:cNvPr id="7170" name="Rectangle 3">
            <a:extLst>
              <a:ext uri="{FF2B5EF4-FFF2-40B4-BE49-F238E27FC236}">
                <a16:creationId xmlns:a16="http://schemas.microsoft.com/office/drawing/2014/main" id="{B7618546-C145-4C85-AD5A-11D70F487B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838" y="1172387"/>
            <a:ext cx="7351712" cy="4483100"/>
          </a:xfrm>
        </p:spPr>
        <p:txBody>
          <a:bodyPr/>
          <a:lstStyle/>
          <a:p>
            <a:r>
              <a:rPr lang="en-US" altLang="en-US" dirty="0"/>
              <a:t>Goals of Protection </a:t>
            </a:r>
          </a:p>
          <a:p>
            <a:r>
              <a:rPr lang="en-US" altLang="en-US" dirty="0"/>
              <a:t>Principles of Protection</a:t>
            </a:r>
          </a:p>
          <a:p>
            <a:r>
              <a:rPr lang="en-US" altLang="en-US" dirty="0"/>
              <a:t>Protection Rings</a:t>
            </a:r>
          </a:p>
          <a:p>
            <a:r>
              <a:rPr lang="en-US" altLang="en-US" dirty="0"/>
              <a:t>Domain of Protection</a:t>
            </a:r>
          </a:p>
          <a:p>
            <a:r>
              <a:rPr lang="en-US" altLang="en-US" dirty="0"/>
              <a:t>Access Matrix </a:t>
            </a:r>
          </a:p>
          <a:p>
            <a:r>
              <a:rPr lang="en-US" altLang="en-US" dirty="0"/>
              <a:t>Implementation of Access Matrix </a:t>
            </a:r>
          </a:p>
          <a:p>
            <a:r>
              <a:rPr lang="en-US" altLang="en-US" dirty="0"/>
              <a:t>Revocation of Access Rights </a:t>
            </a:r>
          </a:p>
          <a:p>
            <a:r>
              <a:rPr lang="en-US" altLang="en-US" dirty="0"/>
              <a:t>Role-based Access Control</a:t>
            </a:r>
          </a:p>
          <a:p>
            <a:r>
              <a:rPr lang="en-US" altLang="en-US" dirty="0"/>
              <a:t>Mandatory Access Control (MAC)</a:t>
            </a:r>
          </a:p>
          <a:p>
            <a:r>
              <a:rPr lang="en-US" altLang="en-US" dirty="0"/>
              <a:t>Capability-Based Systems </a:t>
            </a:r>
          </a:p>
          <a:p>
            <a:r>
              <a:rPr lang="en-US" altLang="en-US" dirty="0"/>
              <a:t>Other Protection Implementation Methods</a:t>
            </a:r>
          </a:p>
          <a:p>
            <a:r>
              <a:rPr lang="en-US" altLang="en-US" dirty="0"/>
              <a:t>Language-based Protection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>
            <a:extLst>
              <a:ext uri="{FF2B5EF4-FFF2-40B4-BE49-F238E27FC236}">
                <a16:creationId xmlns:a16="http://schemas.microsoft.com/office/drawing/2014/main" id="{FC52CBFD-E219-4A87-8EFD-AE24C45F2B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7909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Objectives</a:t>
            </a:r>
          </a:p>
        </p:txBody>
      </p:sp>
      <p:sp>
        <p:nvSpPr>
          <p:cNvPr id="9218" name="Rectangle 3">
            <a:extLst>
              <a:ext uri="{FF2B5EF4-FFF2-40B4-BE49-F238E27FC236}">
                <a16:creationId xmlns:a16="http://schemas.microsoft.com/office/drawing/2014/main" id="{46E958D3-36CA-4BDF-938E-6B544FBBB5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2436" y="1177502"/>
            <a:ext cx="7656413" cy="4530725"/>
          </a:xfrm>
        </p:spPr>
        <p:txBody>
          <a:bodyPr/>
          <a:lstStyle/>
          <a:p>
            <a:r>
              <a:rPr lang="en-US" altLang="en-US" dirty="0"/>
              <a:t>Discuss the goals and principles of protection in a modern computer system</a:t>
            </a:r>
          </a:p>
          <a:p>
            <a:r>
              <a:rPr lang="en-US" altLang="en-US" dirty="0"/>
              <a:t>Explain how protection domains combined with an access matrix are used to specify the resources a process may access</a:t>
            </a:r>
          </a:p>
          <a:p>
            <a:r>
              <a:rPr lang="en-US" altLang="en-US" dirty="0"/>
              <a:t>Examine capability and language-based protection systems</a:t>
            </a:r>
          </a:p>
          <a:p>
            <a:r>
              <a:rPr lang="en-US" altLang="en-US" dirty="0"/>
              <a:t>Describe how protection mechanisms can mitigate system attacks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1026">
            <a:extLst>
              <a:ext uri="{FF2B5EF4-FFF2-40B4-BE49-F238E27FC236}">
                <a16:creationId xmlns:a16="http://schemas.microsoft.com/office/drawing/2014/main" id="{D1C04ADD-C46A-4337-91DC-1EE8BD2C81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5692" y="247880"/>
            <a:ext cx="7743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Goals of Protection</a:t>
            </a:r>
          </a:p>
        </p:txBody>
      </p:sp>
      <p:sp>
        <p:nvSpPr>
          <p:cNvPr id="11266" name="Rectangle 1027">
            <a:extLst>
              <a:ext uri="{FF2B5EF4-FFF2-40B4-BE49-F238E27FC236}">
                <a16:creationId xmlns:a16="http://schemas.microsoft.com/office/drawing/2014/main" id="{C56A7581-AC99-408C-8AC7-F29FC404FB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2436" y="1177502"/>
            <a:ext cx="7619090" cy="4530725"/>
          </a:xfrm>
        </p:spPr>
        <p:txBody>
          <a:bodyPr/>
          <a:lstStyle/>
          <a:p>
            <a:r>
              <a:rPr lang="en-US" altLang="en-US" dirty="0"/>
              <a:t>In one protection model, computer consists of a collection of objects, hardware or software</a:t>
            </a:r>
          </a:p>
          <a:p>
            <a:r>
              <a:rPr lang="en-US" altLang="en-US" dirty="0"/>
              <a:t>Each object has a unique name and can be accessed through a well-defined set of operations</a:t>
            </a:r>
          </a:p>
          <a:p>
            <a:r>
              <a:rPr lang="en-US" altLang="en-US" dirty="0"/>
              <a:t>Protection problem - ensure that each object is accessed correctly and only by those processes that are allowed to do so</a:t>
            </a:r>
            <a:endParaRPr lang="en-US" altLang="en-US" dirty="0">
              <a:latin typeface="Courier New" panose="02070309020205020404" pitchFamily="49" charset="0"/>
            </a:endParaRP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5858233A-EF2E-4C27-81DD-3065CD85ED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4408" y="243929"/>
            <a:ext cx="77517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Principles of Protection</a:t>
            </a:r>
          </a:p>
        </p:txBody>
      </p:sp>
      <p:sp>
        <p:nvSpPr>
          <p:cNvPr id="13314" name="Rectangle 3">
            <a:extLst>
              <a:ext uri="{FF2B5EF4-FFF2-40B4-BE49-F238E27FC236}">
                <a16:creationId xmlns:a16="http://schemas.microsoft.com/office/drawing/2014/main" id="{07FD6D04-C22C-4404-9224-71C493F4C4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7056" y="1172616"/>
            <a:ext cx="7699114" cy="4197350"/>
          </a:xfrm>
        </p:spPr>
        <p:txBody>
          <a:bodyPr/>
          <a:lstStyle/>
          <a:p>
            <a:r>
              <a:rPr lang="en-US" altLang="en-US" dirty="0"/>
              <a:t>Guiding principle –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principle of least privilege</a:t>
            </a:r>
          </a:p>
          <a:p>
            <a:pPr lvl="1"/>
            <a:r>
              <a:rPr lang="en-US" altLang="en-US" dirty="0"/>
              <a:t>Programs, users and systems should be given just enough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privileges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to perform their tasks</a:t>
            </a:r>
          </a:p>
          <a:p>
            <a:pPr lvl="1"/>
            <a:r>
              <a:rPr lang="en-US" altLang="en-US" dirty="0"/>
              <a:t>Properly set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permissions</a:t>
            </a:r>
            <a:r>
              <a:rPr lang="en-US" altLang="en-US" dirty="0"/>
              <a:t> can limit damage if entity has a bug, gets abused</a:t>
            </a:r>
          </a:p>
          <a:p>
            <a:pPr lvl="1"/>
            <a:r>
              <a:rPr lang="en-US" altLang="en-US" dirty="0"/>
              <a:t>Can be static (during life of system, during life of process) </a:t>
            </a:r>
          </a:p>
          <a:p>
            <a:pPr lvl="1"/>
            <a:r>
              <a:rPr lang="en-US" altLang="en-US" dirty="0"/>
              <a:t>Or dynamic (changed by process as needed) –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domain switching, privilege escalation</a:t>
            </a:r>
          </a:p>
          <a:p>
            <a:pPr lvl="1"/>
            <a:r>
              <a:rPr lang="en-US" altLang="ja-JP" b="1" dirty="0">
                <a:solidFill>
                  <a:srgbClr val="006699"/>
                </a:solidFill>
                <a:latin typeface="+mj-lt"/>
              </a:rPr>
              <a:t>Compartmentalization</a:t>
            </a:r>
            <a:r>
              <a:rPr lang="en-US" altLang="ja-JP" dirty="0"/>
              <a:t> a derivative concept regarding access to data </a:t>
            </a:r>
          </a:p>
          <a:p>
            <a:pPr lvl="2"/>
            <a:r>
              <a:rPr lang="en-US" altLang="en-US" dirty="0"/>
              <a:t>Process of protecting each individual system component through the use of specific permissions and access restrictions</a:t>
            </a:r>
          </a:p>
          <a:p>
            <a:pPr lvl="2"/>
            <a:endParaRPr lang="en-US" altLang="en-US" dirty="0"/>
          </a:p>
          <a:p>
            <a:pPr lvl="2">
              <a:buFont typeface="Webdings" panose="05030102010509060703" pitchFamily="18" charset="2"/>
              <a:buNone/>
            </a:pPr>
            <a:endParaRPr lang="en-US" altLang="en-US" dirty="0"/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8A7F9321-F9B1-4E23-8B8C-B3655FDC84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4369" y="252253"/>
            <a:ext cx="775176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Principles of Protection (Cont.)</a:t>
            </a:r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6CCEAADA-EDEE-4E72-9720-2608CA8D3A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1430" y="1172616"/>
            <a:ext cx="7638757" cy="4530725"/>
          </a:xfrm>
        </p:spPr>
        <p:txBody>
          <a:bodyPr/>
          <a:lstStyle/>
          <a:p>
            <a:r>
              <a:rPr lang="en-US" altLang="en-US" dirty="0"/>
              <a:t>Must consider </a:t>
            </a:r>
            <a:r>
              <a:rPr lang="ja-JP" altLang="en-US" dirty="0"/>
              <a:t>“</a:t>
            </a:r>
            <a:r>
              <a:rPr lang="en-US" altLang="ja-JP" dirty="0"/>
              <a:t>grain</a:t>
            </a:r>
            <a:r>
              <a:rPr lang="ja-JP" altLang="en-US" dirty="0"/>
              <a:t>”</a:t>
            </a:r>
            <a:r>
              <a:rPr lang="en-US" altLang="ja-JP" dirty="0"/>
              <a:t> aspect</a:t>
            </a:r>
          </a:p>
          <a:p>
            <a:pPr lvl="1"/>
            <a:r>
              <a:rPr lang="en-US" altLang="en-US" dirty="0"/>
              <a:t>Rough-grained  privilege management easier, simpler, but least privilege now done in large chunks</a:t>
            </a:r>
          </a:p>
          <a:p>
            <a:pPr lvl="2"/>
            <a:r>
              <a:rPr lang="en-US" altLang="en-US" dirty="0"/>
              <a:t>For example, traditional Unix processes either have abilities of the associated user, or of root</a:t>
            </a:r>
          </a:p>
          <a:p>
            <a:pPr lvl="1"/>
            <a:r>
              <a:rPr lang="en-US" altLang="en-US" dirty="0"/>
              <a:t>Fine-grained management more complex, more overhead, but more protective</a:t>
            </a:r>
          </a:p>
          <a:p>
            <a:pPr lvl="2"/>
            <a:r>
              <a:rPr lang="en-US" altLang="en-US" dirty="0"/>
              <a:t>File ACL lists, RBAC</a:t>
            </a:r>
          </a:p>
          <a:p>
            <a:r>
              <a:rPr lang="en-US" altLang="en-US" dirty="0"/>
              <a:t>Domain can be user, process, procedure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Audit trail </a:t>
            </a:r>
            <a:r>
              <a:rPr lang="en-US" altLang="en-US" dirty="0"/>
              <a:t>– recording all protection-orientated activities, important to understanding what happened, why, and catching things that shouldn’t</a:t>
            </a:r>
          </a:p>
          <a:p>
            <a:r>
              <a:rPr lang="en-US" altLang="en-US" dirty="0"/>
              <a:t>No single principle is a panacea for security vulnerabilities – need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defense in depth</a:t>
            </a:r>
          </a:p>
          <a:p>
            <a:pPr lvl="2"/>
            <a:endParaRPr lang="en-US" altLang="en-US" dirty="0"/>
          </a:p>
          <a:p>
            <a:pPr lvl="2"/>
            <a:endParaRPr lang="en-US" altLang="en-US" dirty="0"/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DDE65869-2316-4E3D-BE5D-5A16FDFF89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3068" y="242923"/>
            <a:ext cx="775176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Protection Rings</a:t>
            </a:r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2FEF96D5-E9E3-40F4-B0C6-56B0A8ED2E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1431" y="1172616"/>
            <a:ext cx="7685410" cy="4530725"/>
          </a:xfrm>
        </p:spPr>
        <p:txBody>
          <a:bodyPr/>
          <a:lstStyle/>
          <a:p>
            <a:r>
              <a:rPr lang="en-US" altLang="en-US" dirty="0"/>
              <a:t>Components ordered by amount of privilege and protected from each other</a:t>
            </a:r>
          </a:p>
          <a:p>
            <a:pPr lvl="1"/>
            <a:r>
              <a:rPr lang="en-US" altLang="en-US" dirty="0"/>
              <a:t>For example, the kernel is in one ring and user applications in another</a:t>
            </a:r>
          </a:p>
          <a:p>
            <a:pPr lvl="1"/>
            <a:r>
              <a:rPr lang="en-US" altLang="en-US" dirty="0"/>
              <a:t>This privilege separation requires hardware support</a:t>
            </a:r>
          </a:p>
          <a:p>
            <a:pPr lvl="1"/>
            <a:r>
              <a:rPr lang="en-US" altLang="en-US" dirty="0"/>
              <a:t>Gates used to transfer between levels, for example the </a:t>
            </a:r>
            <a:r>
              <a:rPr lang="en-US" altLang="en-US" dirty="0" err="1"/>
              <a:t>syscall</a:t>
            </a:r>
            <a:r>
              <a:rPr lang="en-US" altLang="en-US" dirty="0"/>
              <a:t> Intel instruction</a:t>
            </a:r>
          </a:p>
          <a:p>
            <a:pPr lvl="1"/>
            <a:r>
              <a:rPr lang="en-US" altLang="en-US" dirty="0"/>
              <a:t>Also traps and interrupts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Hypervisors</a:t>
            </a:r>
            <a:r>
              <a:rPr lang="en-US" altLang="en-US" dirty="0"/>
              <a:t> introduced the need for yet another ring</a:t>
            </a:r>
          </a:p>
          <a:p>
            <a:pPr lvl="1"/>
            <a:r>
              <a:rPr lang="en-US" altLang="en-US" dirty="0"/>
              <a:t>ARMv7 processors added </a:t>
            </a:r>
            <a:r>
              <a:rPr lang="en-US" altLang="en-US" b="1" dirty="0" err="1">
                <a:solidFill>
                  <a:srgbClr val="006699"/>
                </a:solidFill>
                <a:latin typeface="+mj-lt"/>
              </a:rPr>
              <a:t>TrustZone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TZ</a:t>
            </a:r>
            <a:r>
              <a:rPr lang="en-US" altLang="en-US" dirty="0"/>
              <a:t>) ring to protect crypto functions with access via new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Secure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Monitor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Call</a:t>
            </a:r>
            <a:r>
              <a:rPr lang="en-US" altLang="en-US" dirty="0"/>
              <a:t>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SMC</a:t>
            </a:r>
            <a:r>
              <a:rPr lang="en-US" altLang="en-US" dirty="0"/>
              <a:t>) instruction</a:t>
            </a:r>
          </a:p>
          <a:p>
            <a:pPr lvl="2"/>
            <a:r>
              <a:rPr lang="en-US" altLang="en-US" dirty="0"/>
              <a:t>Protecting NFC secure element and crypto keys from even the kernel</a:t>
            </a:r>
          </a:p>
          <a:p>
            <a:pPr lvl="2"/>
            <a:endParaRPr lang="en-US" altLang="en-US" dirty="0"/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B700D56B-846E-42CD-8EDF-4332518E9D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9884" y="238549"/>
            <a:ext cx="7713663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Protection Rings (MULTICS)</a:t>
            </a:r>
          </a:p>
        </p:txBody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070C3DCD-A60B-446E-B016-08D2B01A5F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1166" y="1174784"/>
            <a:ext cx="7369175" cy="1184275"/>
          </a:xfrm>
        </p:spPr>
        <p:txBody>
          <a:bodyPr/>
          <a:lstStyle/>
          <a:p>
            <a:r>
              <a:rPr lang="en-US" altLang="en-US" dirty="0"/>
              <a:t>Let </a:t>
            </a:r>
            <a:r>
              <a:rPr lang="en-US" altLang="en-US" i="1" dirty="0"/>
              <a:t>D</a:t>
            </a:r>
            <a:r>
              <a:rPr lang="en-US" altLang="en-US" i="1" baseline="-25000" dirty="0"/>
              <a:t>i</a:t>
            </a:r>
            <a:r>
              <a:rPr lang="en-US" altLang="en-US" dirty="0"/>
              <a:t> and </a:t>
            </a:r>
            <a:r>
              <a:rPr lang="en-US" altLang="en-US" i="1" dirty="0" err="1"/>
              <a:t>D</a:t>
            </a:r>
            <a:r>
              <a:rPr lang="en-US" altLang="en-US" i="1" baseline="-25000" dirty="0" err="1"/>
              <a:t>j</a:t>
            </a:r>
            <a:r>
              <a:rPr lang="en-US" altLang="en-US" baseline="-25000" dirty="0"/>
              <a:t> </a:t>
            </a:r>
            <a:r>
              <a:rPr lang="en-US" altLang="en-US" dirty="0"/>
              <a:t>be any two domain rings</a:t>
            </a:r>
          </a:p>
          <a:p>
            <a:r>
              <a:rPr lang="en-US" altLang="en-US" dirty="0"/>
              <a:t>If </a:t>
            </a:r>
            <a:r>
              <a:rPr lang="en-US" altLang="en-US" i="1" dirty="0"/>
              <a:t>j</a:t>
            </a:r>
            <a:r>
              <a:rPr lang="en-US" altLang="en-US" dirty="0"/>
              <a:t> &lt; </a:t>
            </a:r>
            <a:r>
              <a:rPr lang="en-US" altLang="en-US" i="1" dirty="0"/>
              <a:t>I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 </a:t>
            </a:r>
            <a:r>
              <a:rPr lang="en-US" altLang="en-US" i="1" dirty="0">
                <a:sym typeface="Symbol" panose="05050102010706020507" pitchFamily="18" charset="2"/>
              </a:rPr>
              <a:t>D</a:t>
            </a:r>
            <a:r>
              <a:rPr lang="en-US" altLang="en-US" i="1" baseline="-25000" dirty="0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  </a:t>
            </a:r>
            <a:r>
              <a:rPr lang="en-US" altLang="en-US" i="1" dirty="0" err="1">
                <a:sym typeface="Symbol" panose="05050102010706020507" pitchFamily="18" charset="2"/>
              </a:rPr>
              <a:t>D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j</a:t>
            </a:r>
            <a:endParaRPr lang="en-US" altLang="en-US" dirty="0"/>
          </a:p>
        </p:txBody>
      </p:sp>
      <p:pic>
        <p:nvPicPr>
          <p:cNvPr id="19459" name="Picture 3">
            <a:extLst>
              <a:ext uri="{FF2B5EF4-FFF2-40B4-BE49-F238E27FC236}">
                <a16:creationId xmlns:a16="http://schemas.microsoft.com/office/drawing/2014/main" id="{665563EC-54CC-48D1-9CDE-C87245C7EE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9884" y="1880248"/>
            <a:ext cx="6000750" cy="410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5DE7695E-384A-4DB2-8519-789EC61B92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5038" y="168275"/>
            <a:ext cx="7751762" cy="576263"/>
          </a:xfrm>
        </p:spPr>
        <p:txBody>
          <a:bodyPr/>
          <a:lstStyle/>
          <a:p>
            <a:pPr eaLnBrk="1" hangingPunct="1"/>
            <a:r>
              <a:rPr lang="en-US" altLang="en-US"/>
              <a:t>Android use of TrustZone</a:t>
            </a:r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C1668596-3F0A-43CE-9ADD-5680C11786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3438" y="1069975"/>
            <a:ext cx="6672262" cy="4530725"/>
          </a:xfrm>
        </p:spPr>
        <p:txBody>
          <a:bodyPr/>
          <a:lstStyle/>
          <a:p>
            <a:pPr lvl="2"/>
            <a:endParaRPr lang="en-US" altLang="en-US"/>
          </a:p>
          <a:p>
            <a:pPr lvl="1">
              <a:buFont typeface="Monotype Sorts" pitchFamily="-84" charset="2"/>
              <a:buNone/>
            </a:pPr>
            <a:endParaRPr lang="en-US" altLang="en-US"/>
          </a:p>
        </p:txBody>
      </p:sp>
      <p:pic>
        <p:nvPicPr>
          <p:cNvPr id="21507" name="Picture 2">
            <a:extLst>
              <a:ext uri="{FF2B5EF4-FFF2-40B4-BE49-F238E27FC236}">
                <a16:creationId xmlns:a16="http://schemas.microsoft.com/office/drawing/2014/main" id="{C66AD2EA-8E6E-49E5-81D3-DA187CEA0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600" y="923925"/>
            <a:ext cx="7513638" cy="506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DBFB6177-6702-4FA6-B7DE-8B01546DCA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4738" y="242106"/>
            <a:ext cx="7549662" cy="576262"/>
          </a:xfrm>
        </p:spPr>
        <p:txBody>
          <a:bodyPr/>
          <a:lstStyle/>
          <a:p>
            <a:r>
              <a:rPr lang="en-US" altLang="en-US" dirty="0"/>
              <a:t>ARM CPU Architecture</a:t>
            </a:r>
          </a:p>
        </p:txBody>
      </p:sp>
      <p:pic>
        <p:nvPicPr>
          <p:cNvPr id="23554" name="Picture 2">
            <a:extLst>
              <a:ext uri="{FF2B5EF4-FFF2-40B4-BE49-F238E27FC236}">
                <a16:creationId xmlns:a16="http://schemas.microsoft.com/office/drawing/2014/main" id="{1D768204-D862-4268-93CD-BEF3327570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713" y="1749425"/>
            <a:ext cx="8515350" cy="401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>
            <a:extLst>
              <a:ext uri="{FF2B5EF4-FFF2-40B4-BE49-F238E27FC236}">
                <a16:creationId xmlns:a16="http://schemas.microsoft.com/office/drawing/2014/main" id="{81B846F7-E605-45D2-B0B9-E45883C77E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4738" y="174867"/>
            <a:ext cx="7549662" cy="576262"/>
          </a:xfrm>
        </p:spPr>
        <p:txBody>
          <a:bodyPr/>
          <a:lstStyle/>
          <a:p>
            <a:r>
              <a:rPr lang="en-US" altLang="en-US" dirty="0"/>
              <a:t>Domain of Protection</a:t>
            </a:r>
          </a:p>
        </p:txBody>
      </p:sp>
      <p:sp>
        <p:nvSpPr>
          <p:cNvPr id="24578" name="Content Placeholder 2">
            <a:extLst>
              <a:ext uri="{FF2B5EF4-FFF2-40B4-BE49-F238E27FC236}">
                <a16:creationId xmlns:a16="http://schemas.microsoft.com/office/drawing/2014/main" id="{48C6B819-C42A-4737-88AA-D74C572BD4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2436" y="1028208"/>
            <a:ext cx="6728429" cy="4505258"/>
          </a:xfrm>
        </p:spPr>
        <p:txBody>
          <a:bodyPr/>
          <a:lstStyle/>
          <a:p>
            <a:r>
              <a:rPr lang="en-US" altLang="en-US" dirty="0"/>
              <a:t>Rings of protection separate functions into domains and order them hierarchically  </a:t>
            </a:r>
          </a:p>
          <a:p>
            <a:r>
              <a:rPr lang="en-US" altLang="en-US" dirty="0"/>
              <a:t>Computer can be treated as processes and objects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Hardware objects </a:t>
            </a:r>
            <a:r>
              <a:rPr lang="en-US" altLang="en-US" dirty="0"/>
              <a:t>(such as devices) and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software objects </a:t>
            </a:r>
            <a:r>
              <a:rPr lang="en-US" altLang="en-US" dirty="0"/>
              <a:t>(such as files, programs, semaphores</a:t>
            </a:r>
          </a:p>
          <a:p>
            <a:r>
              <a:rPr lang="en-US" altLang="en-US" dirty="0"/>
              <a:t>Process for example should only have access to objects it currently requires to complete its task – the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need-to-know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principle</a:t>
            </a:r>
          </a:p>
          <a:p>
            <a:pPr marL="0" indent="0">
              <a:buNone/>
            </a:pPr>
            <a:endParaRPr lang="en-US" altLang="en-US" b="1" dirty="0">
              <a:solidFill>
                <a:srgbClr val="006699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>
            <a:extLst>
              <a:ext uri="{FF2B5EF4-FFF2-40B4-BE49-F238E27FC236}">
                <a16:creationId xmlns:a16="http://schemas.microsoft.com/office/drawing/2014/main" id="{81B846F7-E605-45D2-B0B9-E45883C77E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4738" y="174867"/>
            <a:ext cx="7549662" cy="576262"/>
          </a:xfrm>
        </p:spPr>
        <p:txBody>
          <a:bodyPr/>
          <a:lstStyle/>
          <a:p>
            <a:r>
              <a:rPr lang="en-US" altLang="en-US" dirty="0"/>
              <a:t>Domain of Protection (Cont.)</a:t>
            </a:r>
          </a:p>
        </p:txBody>
      </p:sp>
      <p:sp>
        <p:nvSpPr>
          <p:cNvPr id="24578" name="Content Placeholder 2">
            <a:extLst>
              <a:ext uri="{FF2B5EF4-FFF2-40B4-BE49-F238E27FC236}">
                <a16:creationId xmlns:a16="http://schemas.microsoft.com/office/drawing/2014/main" id="{48C6B819-C42A-4737-88AA-D74C572BD4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2436" y="1028207"/>
            <a:ext cx="7727950" cy="4530725"/>
          </a:xfrm>
        </p:spPr>
        <p:txBody>
          <a:bodyPr/>
          <a:lstStyle/>
          <a:p>
            <a:r>
              <a:rPr lang="en-US" altLang="en-US" dirty="0"/>
              <a:t>Implementation can be via process operating in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protection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domain</a:t>
            </a:r>
          </a:p>
          <a:p>
            <a:pPr lvl="1"/>
            <a:r>
              <a:rPr lang="en-US" altLang="en-US" dirty="0"/>
              <a:t>Specifies resources process may access</a:t>
            </a:r>
          </a:p>
          <a:p>
            <a:pPr lvl="1"/>
            <a:r>
              <a:rPr lang="en-US" altLang="en-US" dirty="0"/>
              <a:t>Each domain specifies set of objects and types of operations on them</a:t>
            </a:r>
          </a:p>
          <a:p>
            <a:pPr lvl="1"/>
            <a:r>
              <a:rPr lang="en-US" altLang="en-US" dirty="0"/>
              <a:t>Ability to execute an operation on an object is an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access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right</a:t>
            </a:r>
          </a:p>
          <a:p>
            <a:pPr lvl="2"/>
            <a:r>
              <a:rPr lang="en-US" altLang="en-US" dirty="0"/>
              <a:t>&lt;object-name, rights-set&gt;</a:t>
            </a:r>
          </a:p>
          <a:p>
            <a:pPr lvl="1"/>
            <a:r>
              <a:rPr lang="en-US" altLang="en-US" dirty="0"/>
              <a:t>Domains may share access rights</a:t>
            </a:r>
          </a:p>
          <a:p>
            <a:pPr lvl="1"/>
            <a:r>
              <a:rPr lang="en-US" altLang="en-US" dirty="0"/>
              <a:t>Associations can be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static</a:t>
            </a:r>
            <a:r>
              <a:rPr lang="en-US" altLang="en-US" dirty="0"/>
              <a:t> 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dynamic</a:t>
            </a:r>
          </a:p>
          <a:p>
            <a:pPr lvl="1"/>
            <a:r>
              <a:rPr lang="en-US" altLang="en-US" dirty="0"/>
              <a:t>If dynamic, processes can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domain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switch</a:t>
            </a:r>
          </a:p>
        </p:txBody>
      </p:sp>
    </p:spTree>
    <p:extLst>
      <p:ext uri="{BB962C8B-B14F-4D97-AF65-F5344CB8AC3E}">
        <p14:creationId xmlns:p14="http://schemas.microsoft.com/office/powerpoint/2010/main" val="12660766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10ABD217-57FB-4E51-9D46-5A1D1FD68B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2554" y="239554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Domain Structure</a:t>
            </a:r>
          </a:p>
        </p:txBody>
      </p:sp>
      <p:sp>
        <p:nvSpPr>
          <p:cNvPr id="25602" name="Rectangle 3">
            <a:extLst>
              <a:ext uri="{FF2B5EF4-FFF2-40B4-BE49-F238E27FC236}">
                <a16:creationId xmlns:a16="http://schemas.microsoft.com/office/drawing/2014/main" id="{175476EA-1F87-48EE-94CB-86578A1E61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6409" y="1177502"/>
            <a:ext cx="7548464" cy="4530725"/>
          </a:xfrm>
        </p:spPr>
        <p:txBody>
          <a:bodyPr/>
          <a:lstStyle/>
          <a:p>
            <a:r>
              <a:rPr lang="en-US" altLang="en-US" dirty="0"/>
              <a:t>Access-right = &lt;</a:t>
            </a:r>
            <a:r>
              <a:rPr lang="en-US" altLang="en-US" i="1" dirty="0"/>
              <a:t>object-name</a:t>
            </a:r>
            <a:r>
              <a:rPr lang="en-US" altLang="en-US" dirty="0"/>
              <a:t>, </a:t>
            </a:r>
            <a:r>
              <a:rPr lang="en-US" altLang="en-US" i="1" dirty="0"/>
              <a:t>rights-set</a:t>
            </a:r>
            <a:r>
              <a:rPr lang="en-US" altLang="en-US" dirty="0"/>
              <a:t>&gt;</a:t>
            </a:r>
            <a:br>
              <a:rPr lang="en-US" altLang="en-US" dirty="0"/>
            </a:br>
            <a:r>
              <a:rPr lang="en-US" altLang="en-US" dirty="0"/>
              <a:t>where </a:t>
            </a:r>
            <a:r>
              <a:rPr lang="en-US" altLang="en-US" i="1" dirty="0"/>
              <a:t>rights-set</a:t>
            </a:r>
            <a:r>
              <a:rPr lang="en-US" altLang="en-US" dirty="0"/>
              <a:t> is a subset of all valid operations that can be performed on the object </a:t>
            </a:r>
          </a:p>
          <a:p>
            <a:r>
              <a:rPr lang="en-US" altLang="en-US" dirty="0"/>
              <a:t>Domain = set of access-rights </a:t>
            </a:r>
            <a:br>
              <a:rPr lang="en-US" altLang="en-US" dirty="0"/>
            </a:br>
            <a:endParaRPr lang="en-US" altLang="en-US" dirty="0"/>
          </a:p>
        </p:txBody>
      </p:sp>
      <p:pic>
        <p:nvPicPr>
          <p:cNvPr id="25603" name="Picture 2">
            <a:extLst>
              <a:ext uri="{FF2B5EF4-FFF2-40B4-BE49-F238E27FC236}">
                <a16:creationId xmlns:a16="http://schemas.microsoft.com/office/drawing/2014/main" id="{2A23D187-F138-4627-9E9A-B34F0ECEF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250" y="2855201"/>
            <a:ext cx="7702550" cy="164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FF2F2E24-E82D-4118-BD55-467AB629A3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235602"/>
            <a:ext cx="77724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Domain Implementation (UNIX)</a:t>
            </a:r>
          </a:p>
        </p:txBody>
      </p:sp>
      <p:sp>
        <p:nvSpPr>
          <p:cNvPr id="27650" name="Rectangle 3">
            <a:extLst>
              <a:ext uri="{FF2B5EF4-FFF2-40B4-BE49-F238E27FC236}">
                <a16:creationId xmlns:a16="http://schemas.microsoft.com/office/drawing/2014/main" id="{95D0B3AF-45AE-4EF4-9AE0-9E232A7F31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9000" y="1171611"/>
            <a:ext cx="7695163" cy="4530725"/>
          </a:xfrm>
        </p:spPr>
        <p:txBody>
          <a:bodyPr/>
          <a:lstStyle/>
          <a:p>
            <a:r>
              <a:rPr lang="en-US" altLang="en-US" dirty="0"/>
              <a:t>Domain = user-id</a:t>
            </a:r>
            <a:endParaRPr lang="en-US" altLang="en-US" sz="800" dirty="0"/>
          </a:p>
          <a:p>
            <a:r>
              <a:rPr lang="en-US" altLang="en-US" dirty="0"/>
              <a:t>Domain switch accomplished via file system</a:t>
            </a:r>
          </a:p>
          <a:p>
            <a:pPr lvl="1"/>
            <a:r>
              <a:rPr lang="en-US" altLang="en-US" dirty="0"/>
              <a:t>Each file has associated with it a domain bit (</a:t>
            </a:r>
            <a:r>
              <a:rPr lang="en-US" altLang="en-US" dirty="0" err="1"/>
              <a:t>setuid</a:t>
            </a:r>
            <a:r>
              <a:rPr lang="en-US" altLang="en-US" dirty="0"/>
              <a:t> bit)</a:t>
            </a:r>
          </a:p>
          <a:p>
            <a:pPr lvl="1"/>
            <a:r>
              <a:rPr lang="en-US" altLang="en-US" dirty="0"/>
              <a:t>When file is executed and </a:t>
            </a:r>
            <a:r>
              <a:rPr lang="en-US" altLang="en-US" dirty="0" err="1"/>
              <a:t>setuid</a:t>
            </a:r>
            <a:r>
              <a:rPr lang="en-US" altLang="en-US" dirty="0"/>
              <a:t> = on, then user-id is set to owner of the file being executed</a:t>
            </a:r>
          </a:p>
          <a:p>
            <a:pPr lvl="1"/>
            <a:r>
              <a:rPr lang="en-US" altLang="en-US" dirty="0"/>
              <a:t> When execution completes user-id is reset </a:t>
            </a:r>
            <a:endParaRPr lang="en-US" altLang="en-US" sz="800" dirty="0"/>
          </a:p>
          <a:p>
            <a:r>
              <a:rPr lang="en-US" altLang="en-US" dirty="0"/>
              <a:t>Domain switch accomplished via passwords</a:t>
            </a:r>
          </a:p>
          <a:p>
            <a:pPr lvl="1"/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</a:t>
            </a:r>
            <a:r>
              <a:rPr lang="en-US" altLang="en-US" dirty="0"/>
              <a:t> command temporarily switches to another user</a:t>
            </a:r>
            <a:r>
              <a:rPr lang="ja-JP" altLang="en-US" dirty="0"/>
              <a:t>’</a:t>
            </a:r>
            <a:r>
              <a:rPr lang="en-US" altLang="ja-JP" dirty="0"/>
              <a:t>s domain when other domain</a:t>
            </a:r>
            <a:r>
              <a:rPr lang="ja-JP" altLang="en-US" dirty="0"/>
              <a:t>’</a:t>
            </a:r>
            <a:r>
              <a:rPr lang="en-US" altLang="ja-JP" dirty="0"/>
              <a:t>s password provided</a:t>
            </a:r>
            <a:endParaRPr lang="en-US" altLang="en-US" sz="800" dirty="0"/>
          </a:p>
          <a:p>
            <a:r>
              <a:rPr lang="en-US" altLang="en-US" dirty="0"/>
              <a:t>Domain switching via commands</a:t>
            </a:r>
          </a:p>
          <a:p>
            <a:pPr lvl="1"/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altLang="en-US" dirty="0"/>
              <a:t> command prefix executes specified command in another domain (if original domain has privilege or password given)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>
            <a:extLst>
              <a:ext uri="{FF2B5EF4-FFF2-40B4-BE49-F238E27FC236}">
                <a16:creationId xmlns:a16="http://schemas.microsoft.com/office/drawing/2014/main" id="{43C46755-EAAC-47AB-89C1-BA9F23265F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38538" y="275872"/>
            <a:ext cx="8229600" cy="576262"/>
          </a:xfrm>
        </p:spPr>
        <p:txBody>
          <a:bodyPr/>
          <a:lstStyle/>
          <a:p>
            <a:r>
              <a:rPr lang="en-US" altLang="en-US" sz="2800" dirty="0"/>
              <a:t>Domain Implementation</a:t>
            </a:r>
            <a:br>
              <a:rPr lang="en-US" altLang="en-US" sz="2800" dirty="0"/>
            </a:br>
            <a:r>
              <a:rPr lang="en-US" altLang="en-US" sz="2800" dirty="0"/>
              <a:t>(Android App IDs)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2E5FFC97-DA45-E54B-B649-537EE14CF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6409" y="1168173"/>
            <a:ext cx="7734722" cy="4530725"/>
          </a:xfrm>
        </p:spPr>
        <p:txBody>
          <a:bodyPr/>
          <a:lstStyle/>
          <a:p>
            <a:pPr>
              <a:defRPr/>
            </a:pPr>
            <a:r>
              <a:rPr lang="en-US" dirty="0"/>
              <a:t>In Android, distinct user IDs are provided on a per-application basis</a:t>
            </a:r>
          </a:p>
          <a:p>
            <a:pPr>
              <a:defRPr/>
            </a:pPr>
            <a:r>
              <a:rPr lang="en-US" dirty="0"/>
              <a:t>When an application is installed, the </a:t>
            </a:r>
            <a:r>
              <a:rPr lang="en-US" dirty="0" err="1"/>
              <a:t>installd</a:t>
            </a:r>
            <a:r>
              <a:rPr lang="en-US" dirty="0"/>
              <a:t> daemon assigns it a distinct user ID (UID) and group ID (GID), along with a private data directory (/data/data/&lt;</a:t>
            </a:r>
            <a:r>
              <a:rPr lang="en-US" dirty="0" err="1"/>
              <a:t>appname</a:t>
            </a:r>
            <a:r>
              <a:rPr lang="en-US" dirty="0"/>
              <a:t>&gt;) whose ownership is granted to this UID/GID combination alone. </a:t>
            </a:r>
          </a:p>
          <a:p>
            <a:pPr>
              <a:defRPr/>
            </a:pPr>
            <a:r>
              <a:rPr lang="en-US" dirty="0"/>
              <a:t>Applications on the device enjoy the same level of protection provided by UNIX systems to separate users</a:t>
            </a:r>
          </a:p>
          <a:p>
            <a:pPr>
              <a:defRPr/>
            </a:pPr>
            <a:r>
              <a:rPr lang="en-US" dirty="0"/>
              <a:t>A quick and simple way to provide isolation, security, and privacy. </a:t>
            </a:r>
          </a:p>
          <a:p>
            <a:pPr>
              <a:defRPr/>
            </a:pPr>
            <a:r>
              <a:rPr lang="en-US" dirty="0"/>
              <a:t>The mechanism is extended by modifying the kernel to allow certain operations (such as networking sockets) only to members of a particular GID (for example, AID INET, 3003)</a:t>
            </a:r>
          </a:p>
          <a:p>
            <a:pPr>
              <a:defRPr/>
            </a:pPr>
            <a:r>
              <a:rPr lang="en-US" dirty="0"/>
              <a:t>A further enhancement by Android is to define certain UIDs as “isolated,” prevents them from initiating RPC requests to any but a bare minimum of services</a:t>
            </a:r>
          </a:p>
          <a:p>
            <a:pPr>
              <a:buFont typeface="Monotype Sorts" pitchFamily="2" charset="2"/>
              <a:buChar char="n"/>
              <a:defRPr/>
            </a:pPr>
            <a:endParaRPr lang="en-US" dirty="0"/>
          </a:p>
          <a:p>
            <a:pPr marL="0" indent="0">
              <a:buFont typeface="Monotype Sorts" pitchFamily="2" charset="2"/>
              <a:buNone/>
              <a:defRPr/>
            </a:pPr>
            <a:endParaRPr lang="en-US" altLang="en-US" dirty="0"/>
          </a:p>
          <a:p>
            <a:pPr marL="0" indent="0">
              <a:buFont typeface="Monotype Sorts" pitchFamily="2" charset="2"/>
              <a:buNone/>
              <a:defRPr/>
            </a:pPr>
            <a:endParaRPr lang="en-US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081B65CA-C85B-46C0-B6BC-0608B507D5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0433" y="233592"/>
            <a:ext cx="775176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Access Matrix</a:t>
            </a:r>
          </a:p>
        </p:txBody>
      </p:sp>
      <p:sp>
        <p:nvSpPr>
          <p:cNvPr id="30722" name="Rectangle 3">
            <a:extLst>
              <a:ext uri="{FF2B5EF4-FFF2-40B4-BE49-F238E27FC236}">
                <a16:creationId xmlns:a16="http://schemas.microsoft.com/office/drawing/2014/main" id="{B211A1FC-7C3D-43F2-931B-6B2EC2C266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3375" y="1156512"/>
            <a:ext cx="6850062" cy="2006600"/>
          </a:xfrm>
        </p:spPr>
        <p:txBody>
          <a:bodyPr/>
          <a:lstStyle/>
          <a:p>
            <a:r>
              <a:rPr lang="en-US" altLang="en-US" dirty="0"/>
              <a:t>View protection as a matrix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access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matrix</a:t>
            </a:r>
            <a:r>
              <a:rPr lang="en-US" altLang="en-US" dirty="0"/>
              <a:t>)</a:t>
            </a:r>
            <a:endParaRPr lang="en-US" altLang="en-US" sz="800" dirty="0"/>
          </a:p>
          <a:p>
            <a:r>
              <a:rPr lang="en-US" altLang="en-US" dirty="0"/>
              <a:t>Rows represent domains</a:t>
            </a:r>
            <a:endParaRPr lang="en-US" altLang="en-US" sz="800" dirty="0"/>
          </a:p>
          <a:p>
            <a:r>
              <a:rPr lang="en-US" altLang="en-US" dirty="0"/>
              <a:t>Columns represent objects</a:t>
            </a:r>
            <a:endParaRPr lang="en-US" altLang="en-US" sz="800" dirty="0"/>
          </a:p>
          <a:p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Access(i, j) </a:t>
            </a:r>
            <a:r>
              <a:rPr lang="en-US" altLang="en-US" dirty="0"/>
              <a:t>is the set of operations that a process executing in </a:t>
            </a:r>
            <a:r>
              <a:rPr lang="en-US" altLang="en-US" dirty="0" err="1"/>
              <a:t>Domain</a:t>
            </a:r>
            <a:r>
              <a:rPr lang="en-US" altLang="en-US" b="1" baseline="-25000" dirty="0" err="1"/>
              <a:t>i</a:t>
            </a:r>
            <a:r>
              <a:rPr lang="en-US" altLang="en-US" dirty="0"/>
              <a:t> can invoke on </a:t>
            </a:r>
            <a:r>
              <a:rPr lang="en-US" altLang="en-US" dirty="0" err="1"/>
              <a:t>Object</a:t>
            </a:r>
            <a:r>
              <a:rPr lang="en-US" altLang="en-US" b="1" baseline="-25000" dirty="0" err="1"/>
              <a:t>j</a:t>
            </a:r>
            <a:endParaRPr lang="en-US" altLang="en-US" b="1" baseline="-25000" dirty="0"/>
          </a:p>
        </p:txBody>
      </p:sp>
      <p:pic>
        <p:nvPicPr>
          <p:cNvPr id="30723" name="Picture 2">
            <a:extLst>
              <a:ext uri="{FF2B5EF4-FFF2-40B4-BE49-F238E27FC236}">
                <a16:creationId xmlns:a16="http://schemas.microsoft.com/office/drawing/2014/main" id="{E37DBED8-373C-4971-B738-56A3AA5CDB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2975" y="3125788"/>
            <a:ext cx="5073650" cy="2744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59879BC6-614D-45B4-ACAB-C9B4AD9165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1707" y="242923"/>
            <a:ext cx="800576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Use of Access Matrix</a:t>
            </a:r>
          </a:p>
        </p:txBody>
      </p:sp>
      <p:sp>
        <p:nvSpPr>
          <p:cNvPr id="32770" name="Rectangle 3">
            <a:extLst>
              <a:ext uri="{FF2B5EF4-FFF2-40B4-BE49-F238E27FC236}">
                <a16:creationId xmlns:a16="http://schemas.microsoft.com/office/drawing/2014/main" id="{E5CF3BEA-65BA-4F29-A8F7-EAD02A42AE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8417" y="1157905"/>
            <a:ext cx="7677085" cy="4689475"/>
          </a:xfrm>
        </p:spPr>
        <p:txBody>
          <a:bodyPr/>
          <a:lstStyle/>
          <a:p>
            <a:r>
              <a:rPr lang="en-US" altLang="en-US" dirty="0"/>
              <a:t>If a process in Domain </a:t>
            </a:r>
            <a:r>
              <a:rPr lang="en-US" altLang="en-US" i="1" dirty="0"/>
              <a:t>D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tries to do </a:t>
            </a:r>
            <a:r>
              <a:rPr lang="ja-JP" altLang="en-US" dirty="0"/>
              <a:t>“</a:t>
            </a:r>
            <a:r>
              <a:rPr lang="en-US" altLang="ja-JP" dirty="0"/>
              <a:t>op</a:t>
            </a:r>
            <a:r>
              <a:rPr lang="ja-JP" altLang="en-US" dirty="0"/>
              <a:t>”</a:t>
            </a:r>
            <a:r>
              <a:rPr lang="en-US" altLang="ja-JP" dirty="0"/>
              <a:t> on object</a:t>
            </a:r>
            <a:r>
              <a:rPr lang="en-US" altLang="ja-JP" i="1" dirty="0"/>
              <a:t> </a:t>
            </a:r>
            <a:r>
              <a:rPr lang="en-US" altLang="ja-JP" i="1" dirty="0" err="1"/>
              <a:t>O</a:t>
            </a:r>
            <a:r>
              <a:rPr lang="en-US" altLang="ja-JP" i="1" baseline="-25000" dirty="0" err="1"/>
              <a:t>j</a:t>
            </a:r>
            <a:r>
              <a:rPr lang="en-US" altLang="ja-JP" dirty="0"/>
              <a:t>, then </a:t>
            </a:r>
            <a:r>
              <a:rPr lang="ja-JP" altLang="en-US" dirty="0"/>
              <a:t>“</a:t>
            </a:r>
            <a:r>
              <a:rPr lang="en-US" altLang="ja-JP" dirty="0"/>
              <a:t>op</a:t>
            </a:r>
            <a:r>
              <a:rPr lang="ja-JP" altLang="en-US" dirty="0"/>
              <a:t>”</a:t>
            </a:r>
            <a:r>
              <a:rPr lang="en-US" altLang="ja-JP" dirty="0"/>
              <a:t> must be in the access matrix</a:t>
            </a:r>
            <a:endParaRPr lang="en-US" altLang="en-US" sz="800" dirty="0"/>
          </a:p>
          <a:p>
            <a:r>
              <a:rPr lang="en-US" altLang="en-US" dirty="0"/>
              <a:t>User who creates object can define access column for that object</a:t>
            </a:r>
          </a:p>
          <a:p>
            <a:r>
              <a:rPr lang="en-US" altLang="en-US" dirty="0"/>
              <a:t>Can be expanded to dynamic protection</a:t>
            </a:r>
          </a:p>
          <a:p>
            <a:pPr lvl="1"/>
            <a:r>
              <a:rPr lang="en-US" altLang="en-US" dirty="0"/>
              <a:t>Operations to add, delete access rights</a:t>
            </a:r>
          </a:p>
          <a:p>
            <a:pPr lvl="1"/>
            <a:r>
              <a:rPr lang="en-US" altLang="en-US" dirty="0"/>
              <a:t>Special access rights:</a:t>
            </a:r>
          </a:p>
          <a:p>
            <a:pPr lvl="2"/>
            <a:r>
              <a:rPr lang="en-US" altLang="en-US" i="1" dirty="0"/>
              <a:t>owner of O</a:t>
            </a:r>
            <a:r>
              <a:rPr lang="en-US" altLang="en-US" i="1" baseline="-25000" dirty="0"/>
              <a:t>i</a:t>
            </a:r>
            <a:endParaRPr lang="en-US" altLang="en-US" i="1" dirty="0"/>
          </a:p>
          <a:p>
            <a:pPr lvl="2"/>
            <a:r>
              <a:rPr lang="en-US" altLang="en-US" i="1" dirty="0"/>
              <a:t>copy op from O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to </a:t>
            </a:r>
            <a:r>
              <a:rPr lang="en-US" altLang="en-US" i="1" dirty="0" err="1"/>
              <a:t>O</a:t>
            </a:r>
            <a:r>
              <a:rPr lang="en-US" altLang="en-US" i="1" baseline="-25000" dirty="0" err="1"/>
              <a:t>j</a:t>
            </a:r>
            <a:r>
              <a:rPr lang="en-US" altLang="en-US" i="1" baseline="-25000" dirty="0"/>
              <a:t> </a:t>
            </a:r>
            <a:r>
              <a:rPr lang="en-US" altLang="en-US" i="1" dirty="0"/>
              <a:t>(denoted by </a:t>
            </a:r>
            <a:r>
              <a:rPr lang="ja-JP" altLang="en-US" i="1" dirty="0"/>
              <a:t>“</a:t>
            </a:r>
            <a:r>
              <a:rPr lang="en-US" altLang="ja-JP" i="1" dirty="0"/>
              <a:t>*</a:t>
            </a:r>
            <a:r>
              <a:rPr lang="ja-JP" altLang="en-US" i="1" dirty="0"/>
              <a:t>”</a:t>
            </a:r>
            <a:r>
              <a:rPr lang="en-US" altLang="ja-JP" i="1" dirty="0"/>
              <a:t>)</a:t>
            </a:r>
          </a:p>
          <a:p>
            <a:pPr lvl="2"/>
            <a:r>
              <a:rPr lang="en-US" altLang="en-US" i="1" dirty="0"/>
              <a:t>control – D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can modify </a:t>
            </a:r>
            <a:r>
              <a:rPr lang="en-US" altLang="en-US" i="1" dirty="0" err="1"/>
              <a:t>D</a:t>
            </a:r>
            <a:r>
              <a:rPr lang="en-US" altLang="en-US" i="1" baseline="-25000" dirty="0" err="1"/>
              <a:t>j</a:t>
            </a:r>
            <a:r>
              <a:rPr lang="en-US" altLang="en-US" i="1" dirty="0"/>
              <a:t> access rights</a:t>
            </a:r>
          </a:p>
          <a:p>
            <a:pPr lvl="2"/>
            <a:r>
              <a:rPr lang="en-US" altLang="en-US" i="1" dirty="0"/>
              <a:t>transfer – switch from domain D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to </a:t>
            </a:r>
            <a:r>
              <a:rPr lang="en-US" altLang="en-US" i="1" dirty="0" err="1"/>
              <a:t>D</a:t>
            </a:r>
            <a:r>
              <a:rPr lang="en-US" altLang="en-US" i="1" baseline="-25000" dirty="0" err="1"/>
              <a:t>j</a:t>
            </a:r>
            <a:endParaRPr lang="en-US" altLang="en-US" i="1" baseline="-25000" dirty="0"/>
          </a:p>
          <a:p>
            <a:pPr lvl="1"/>
            <a:r>
              <a:rPr lang="en-US" altLang="en-US" i="1" dirty="0"/>
              <a:t>Copy </a:t>
            </a:r>
            <a:r>
              <a:rPr lang="en-US" altLang="en-US" dirty="0"/>
              <a:t>and </a:t>
            </a:r>
            <a:r>
              <a:rPr lang="en-US" altLang="en-US" i="1" dirty="0"/>
              <a:t>Owner </a:t>
            </a:r>
            <a:r>
              <a:rPr lang="en-US" altLang="en-US" dirty="0"/>
              <a:t>applicable to an object</a:t>
            </a:r>
          </a:p>
          <a:p>
            <a:pPr lvl="1"/>
            <a:r>
              <a:rPr lang="en-US" altLang="en-US" i="1" dirty="0"/>
              <a:t>Control </a:t>
            </a:r>
            <a:r>
              <a:rPr lang="en-US" altLang="en-US" dirty="0"/>
              <a:t>applicable to domain object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099FCB1C-FB77-43CD-8A80-FEDFB679A9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1652" y="239552"/>
            <a:ext cx="78105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Use of Access Matrix (Cont.)</a:t>
            </a:r>
          </a:p>
        </p:txBody>
      </p:sp>
      <p:sp>
        <p:nvSpPr>
          <p:cNvPr id="34818" name="Rectangle 3">
            <a:extLst>
              <a:ext uri="{FF2B5EF4-FFF2-40B4-BE49-F238E27FC236}">
                <a16:creationId xmlns:a16="http://schemas.microsoft.com/office/drawing/2014/main" id="{D499FC5D-C067-49E2-B5C9-154EA607E2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8418" y="1160269"/>
            <a:ext cx="7751727" cy="4530725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Access matrix </a:t>
            </a:r>
            <a:r>
              <a:rPr lang="en-US" altLang="en-US" dirty="0"/>
              <a:t>design separates mechanism from policy</a:t>
            </a:r>
          </a:p>
          <a:p>
            <a:pPr lvl="1"/>
            <a:r>
              <a:rPr lang="en-US" altLang="en-US" dirty="0"/>
              <a:t>Mechanism </a:t>
            </a:r>
          </a:p>
          <a:p>
            <a:pPr lvl="2"/>
            <a:r>
              <a:rPr lang="en-US" altLang="en-US" dirty="0"/>
              <a:t>Operating system provides access-matrix + rules</a:t>
            </a:r>
          </a:p>
          <a:p>
            <a:pPr lvl="2"/>
            <a:r>
              <a:rPr lang="en-US" altLang="en-US" dirty="0"/>
              <a:t>If ensures that the matrix is only manipulated by authorized agents and that rules are strictly enforced</a:t>
            </a:r>
          </a:p>
          <a:p>
            <a:pPr lvl="1"/>
            <a:r>
              <a:rPr lang="en-US" altLang="en-US" dirty="0"/>
              <a:t>Policy</a:t>
            </a:r>
          </a:p>
          <a:p>
            <a:pPr lvl="2"/>
            <a:r>
              <a:rPr lang="en-US" altLang="en-US" dirty="0"/>
              <a:t>User dictates policy</a:t>
            </a:r>
          </a:p>
          <a:p>
            <a:pPr lvl="2"/>
            <a:r>
              <a:rPr lang="en-US" altLang="en-US" dirty="0"/>
              <a:t>Who can access what object and in what mode</a:t>
            </a:r>
          </a:p>
          <a:p>
            <a:r>
              <a:rPr lang="en-US" altLang="en-US" dirty="0"/>
              <a:t>But </a:t>
            </a:r>
            <a:r>
              <a:rPr lang="en-US" altLang="en-US" dirty="0" err="1"/>
              <a:t>doesn</a:t>
            </a:r>
            <a:r>
              <a:rPr lang="ja-JP" altLang="en-US" dirty="0"/>
              <a:t>’</a:t>
            </a:r>
            <a:r>
              <a:rPr lang="en-US" altLang="ja-JP" dirty="0"/>
              <a:t>t solve the general confinement problem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10C88AB3-8BEC-4994-AFCF-9E2F40CEA4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73047" y="374751"/>
            <a:ext cx="7747000" cy="51911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Access Matrix of Figure A with</a:t>
            </a:r>
            <a:br>
              <a:rPr lang="en-US" altLang="en-US" sz="2800" dirty="0"/>
            </a:br>
            <a:r>
              <a:rPr lang="en-US" altLang="en-US" sz="2800" dirty="0"/>
              <a:t>Domains as Objects</a:t>
            </a:r>
          </a:p>
        </p:txBody>
      </p:sp>
      <p:pic>
        <p:nvPicPr>
          <p:cNvPr id="36866" name="Picture 2">
            <a:extLst>
              <a:ext uri="{FF2B5EF4-FFF2-40B4-BE49-F238E27FC236}">
                <a16:creationId xmlns:a16="http://schemas.microsoft.com/office/drawing/2014/main" id="{B2BDB480-8490-4C0D-B61B-28F11E254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263" y="1985963"/>
            <a:ext cx="7404100" cy="306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A2A3FE67-57F6-453A-A30D-73C26791AD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93487" y="257209"/>
            <a:ext cx="77533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Access Matrix with </a:t>
            </a:r>
            <a:r>
              <a:rPr lang="en-US" altLang="en-US" i="1" dirty="0"/>
              <a:t>Copy</a:t>
            </a:r>
            <a:r>
              <a:rPr lang="en-US" altLang="en-US" dirty="0"/>
              <a:t> Rights</a:t>
            </a:r>
          </a:p>
        </p:txBody>
      </p:sp>
      <p:pic>
        <p:nvPicPr>
          <p:cNvPr id="38914" name="Picture 2">
            <a:extLst>
              <a:ext uri="{FF2B5EF4-FFF2-40B4-BE49-F238E27FC236}">
                <a16:creationId xmlns:a16="http://schemas.microsoft.com/office/drawing/2014/main" id="{4E79CC29-4DA3-4B90-B623-DF40E23AD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7113" y="1339850"/>
            <a:ext cx="4832350" cy="512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>
            <a:extLst>
              <a:ext uri="{FF2B5EF4-FFF2-40B4-BE49-F238E27FC236}">
                <a16:creationId xmlns:a16="http://schemas.microsoft.com/office/drawing/2014/main" id="{911E2ACE-86C3-4E41-B2FC-C64B3A95F1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5454" y="248883"/>
            <a:ext cx="77819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Access Matrix With </a:t>
            </a:r>
            <a:r>
              <a:rPr lang="en-US" altLang="en-US" i="1" dirty="0"/>
              <a:t>Owner</a:t>
            </a:r>
            <a:r>
              <a:rPr lang="en-US" altLang="en-US" dirty="0"/>
              <a:t> Rights</a:t>
            </a:r>
          </a:p>
        </p:txBody>
      </p:sp>
      <p:pic>
        <p:nvPicPr>
          <p:cNvPr id="40962" name="Picture 2">
            <a:extLst>
              <a:ext uri="{FF2B5EF4-FFF2-40B4-BE49-F238E27FC236}">
                <a16:creationId xmlns:a16="http://schemas.microsoft.com/office/drawing/2014/main" id="{2D8F857B-D84C-439A-A521-FB93AFE83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0663" y="1428750"/>
            <a:ext cx="3667125" cy="476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>
            <a:extLst>
              <a:ext uri="{FF2B5EF4-FFF2-40B4-BE49-F238E27FC236}">
                <a16:creationId xmlns:a16="http://schemas.microsoft.com/office/drawing/2014/main" id="{B4995268-5F4D-4940-94C4-8DBD762C38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2176" y="247880"/>
            <a:ext cx="7840663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Modified Access Matrix of Figure B</a:t>
            </a:r>
          </a:p>
        </p:txBody>
      </p:sp>
      <p:pic>
        <p:nvPicPr>
          <p:cNvPr id="43010" name="Picture 2">
            <a:extLst>
              <a:ext uri="{FF2B5EF4-FFF2-40B4-BE49-F238E27FC236}">
                <a16:creationId xmlns:a16="http://schemas.microsoft.com/office/drawing/2014/main" id="{35B92467-4912-49EA-9942-5591BB69D1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075" y="1898650"/>
            <a:ext cx="7756525" cy="320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>
            <a:extLst>
              <a:ext uri="{FF2B5EF4-FFF2-40B4-BE49-F238E27FC236}">
                <a16:creationId xmlns:a16="http://schemas.microsoft.com/office/drawing/2014/main" id="{92EADC7B-410B-4F72-92BD-4AA9096560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5317" y="225265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Implementation of Access Matrix</a:t>
            </a:r>
          </a:p>
        </p:txBody>
      </p:sp>
      <p:sp>
        <p:nvSpPr>
          <p:cNvPr id="45058" name="Rectangle 3">
            <a:extLst>
              <a:ext uri="{FF2B5EF4-FFF2-40B4-BE49-F238E27FC236}">
                <a16:creationId xmlns:a16="http://schemas.microsoft.com/office/drawing/2014/main" id="{16D2159F-6E46-49EF-B8BB-1A4018DDE2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2218" y="1176177"/>
            <a:ext cx="7634383" cy="4005263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2736850" algn="l"/>
              </a:tabLst>
            </a:pPr>
            <a:r>
              <a:rPr lang="en-US" altLang="en-US" dirty="0"/>
              <a:t>Generally, a sparse matrix</a:t>
            </a:r>
          </a:p>
          <a:p>
            <a:pPr>
              <a:lnSpc>
                <a:spcPct val="90000"/>
              </a:lnSpc>
              <a:tabLst>
                <a:tab pos="2736850" algn="l"/>
              </a:tabLst>
            </a:pPr>
            <a:r>
              <a:rPr lang="en-US" altLang="en-US" dirty="0"/>
              <a:t>Option 1 – Global table</a:t>
            </a:r>
          </a:p>
          <a:p>
            <a:pPr lvl="1">
              <a:lnSpc>
                <a:spcPct val="90000"/>
              </a:lnSpc>
              <a:tabLst>
                <a:tab pos="2736850" algn="l"/>
              </a:tabLst>
            </a:pPr>
            <a:r>
              <a:rPr lang="en-US" altLang="en-US" dirty="0"/>
              <a:t>Store ordered triples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&lt;domain, object, rights-set&gt; </a:t>
            </a:r>
            <a:r>
              <a:rPr lang="en-US" altLang="en-US" dirty="0"/>
              <a:t>in table</a:t>
            </a:r>
          </a:p>
          <a:p>
            <a:pPr lvl="1">
              <a:lnSpc>
                <a:spcPct val="90000"/>
              </a:lnSpc>
              <a:tabLst>
                <a:tab pos="2736850" algn="l"/>
              </a:tabLst>
            </a:pPr>
            <a:r>
              <a:rPr lang="en-US" altLang="en-US" dirty="0"/>
              <a:t>A requested operation M on object </a:t>
            </a:r>
            <a:r>
              <a:rPr lang="en-US" altLang="en-US" i="1" dirty="0" err="1"/>
              <a:t>O</a:t>
            </a:r>
            <a:r>
              <a:rPr lang="en-US" altLang="en-US" i="1" baseline="-25000" dirty="0" err="1"/>
              <a:t>j</a:t>
            </a:r>
            <a:r>
              <a:rPr lang="en-US" altLang="en-US" dirty="0"/>
              <a:t> within domain </a:t>
            </a:r>
            <a:r>
              <a:rPr lang="en-US" altLang="en-US" i="1" dirty="0"/>
              <a:t>D</a:t>
            </a:r>
            <a:r>
              <a:rPr lang="en-US" altLang="en-US" i="1" baseline="-25000" dirty="0"/>
              <a:t>i</a:t>
            </a:r>
            <a:r>
              <a:rPr lang="en-US" altLang="en-US" dirty="0"/>
              <a:t> -&gt; search table for </a:t>
            </a:r>
            <a:r>
              <a:rPr lang="en-US" altLang="en-US" i="1" dirty="0"/>
              <a:t>&lt; D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, </a:t>
            </a:r>
            <a:r>
              <a:rPr lang="en-US" altLang="en-US" i="1" dirty="0" err="1"/>
              <a:t>O</a:t>
            </a:r>
            <a:r>
              <a:rPr lang="en-US" altLang="en-US" i="1" baseline="-25000" dirty="0" err="1"/>
              <a:t>j</a:t>
            </a:r>
            <a:r>
              <a:rPr lang="en-US" altLang="en-US" i="1" dirty="0"/>
              <a:t>,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k</a:t>
            </a:r>
            <a:r>
              <a:rPr lang="en-US" altLang="en-US" i="1" dirty="0"/>
              <a:t> &gt; </a:t>
            </a:r>
          </a:p>
          <a:p>
            <a:pPr lvl="2">
              <a:lnSpc>
                <a:spcPct val="90000"/>
              </a:lnSpc>
              <a:tabLst>
                <a:tab pos="2736850" algn="l"/>
              </a:tabLst>
            </a:pPr>
            <a:r>
              <a:rPr lang="en-US" altLang="en-US" dirty="0"/>
              <a:t>with M ∈ </a:t>
            </a:r>
            <a:r>
              <a:rPr lang="en-US" altLang="en-US" dirty="0" err="1"/>
              <a:t>R</a:t>
            </a:r>
            <a:r>
              <a:rPr lang="en-US" altLang="en-US" baseline="-25000" dirty="0" err="1"/>
              <a:t>k</a:t>
            </a:r>
            <a:endParaRPr lang="en-US" altLang="en-US" baseline="-25000" dirty="0"/>
          </a:p>
          <a:p>
            <a:pPr lvl="1">
              <a:lnSpc>
                <a:spcPct val="90000"/>
              </a:lnSpc>
              <a:tabLst>
                <a:tab pos="2736850" algn="l"/>
              </a:tabLst>
            </a:pPr>
            <a:r>
              <a:rPr lang="en-US" altLang="en-US" dirty="0"/>
              <a:t>But table could be large -&gt; won</a:t>
            </a:r>
            <a:r>
              <a:rPr lang="ja-JP" altLang="en-US" dirty="0"/>
              <a:t>’</a:t>
            </a:r>
            <a:r>
              <a:rPr lang="en-US" altLang="ja-JP" dirty="0"/>
              <a:t>t fit in main memory</a:t>
            </a:r>
          </a:p>
          <a:p>
            <a:pPr lvl="1">
              <a:lnSpc>
                <a:spcPct val="90000"/>
              </a:lnSpc>
              <a:tabLst>
                <a:tab pos="2736850" algn="l"/>
              </a:tabLst>
            </a:pPr>
            <a:r>
              <a:rPr lang="en-US" altLang="en-US" dirty="0"/>
              <a:t>Difficult to group objects (consider an object that all domains can read)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736850" algn="l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>
            <a:extLst>
              <a:ext uri="{FF2B5EF4-FFF2-40B4-BE49-F238E27FC236}">
                <a16:creationId xmlns:a16="http://schemas.microsoft.com/office/drawing/2014/main" id="{FB00A21D-3923-4C9F-9946-CE9C65DF8D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6614" y="253257"/>
            <a:ext cx="81200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Implementation of Access Matrix (Cont.)</a:t>
            </a:r>
          </a:p>
        </p:txBody>
      </p:sp>
      <p:sp>
        <p:nvSpPr>
          <p:cNvPr id="47106" name="Rectangle 3">
            <a:extLst>
              <a:ext uri="{FF2B5EF4-FFF2-40B4-BE49-F238E27FC236}">
                <a16:creationId xmlns:a16="http://schemas.microsoft.com/office/drawing/2014/main" id="{9C45529A-365C-4E77-AA67-DEBAF8A29D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3125" y="1176179"/>
            <a:ext cx="7673716" cy="4005263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2736850" algn="l"/>
              </a:tabLst>
            </a:pPr>
            <a:r>
              <a:rPr lang="en-US" altLang="en-US" dirty="0"/>
              <a:t>Option 2 – Access lists for objects</a:t>
            </a:r>
          </a:p>
          <a:p>
            <a:pPr lvl="1">
              <a:lnSpc>
                <a:spcPct val="90000"/>
              </a:lnSpc>
              <a:tabLst>
                <a:tab pos="2736850" algn="l"/>
              </a:tabLst>
            </a:pPr>
            <a:r>
              <a:rPr lang="en-US" altLang="en-US" dirty="0"/>
              <a:t>Each column implemented as an access list for one object</a:t>
            </a:r>
          </a:p>
          <a:p>
            <a:pPr lvl="1">
              <a:lnSpc>
                <a:spcPct val="90000"/>
              </a:lnSpc>
              <a:tabLst>
                <a:tab pos="2736850" algn="l"/>
              </a:tabLst>
            </a:pPr>
            <a:r>
              <a:rPr lang="en-US" altLang="en-US" dirty="0"/>
              <a:t>Resulting per-object list consists of ordered pairs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&lt;domain, rights-set&gt; </a:t>
            </a:r>
            <a:r>
              <a:rPr lang="en-US" altLang="en-US" dirty="0"/>
              <a:t>defining all domains with non-empty set of access rights for the object</a:t>
            </a:r>
          </a:p>
          <a:p>
            <a:pPr lvl="1">
              <a:lnSpc>
                <a:spcPct val="90000"/>
              </a:lnSpc>
              <a:tabLst>
                <a:tab pos="2736850" algn="l"/>
              </a:tabLst>
            </a:pPr>
            <a:r>
              <a:rPr lang="en-US" altLang="en-US" dirty="0"/>
              <a:t>Easily extended to contain default set -&gt; If M ∈ default set, also allow access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736850" algn="l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1">
            <a:extLst>
              <a:ext uri="{FF2B5EF4-FFF2-40B4-BE49-F238E27FC236}">
                <a16:creationId xmlns:a16="http://schemas.microsoft.com/office/drawing/2014/main" id="{373E1A66-7267-4272-B79D-8AB6737980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6643" y="254259"/>
            <a:ext cx="8229600" cy="576263"/>
          </a:xfrm>
        </p:spPr>
        <p:txBody>
          <a:bodyPr/>
          <a:lstStyle/>
          <a:p>
            <a:r>
              <a:rPr lang="en-US" altLang="en-US" dirty="0"/>
              <a:t>Implementation of Access Matrix (Cont.)</a:t>
            </a:r>
          </a:p>
        </p:txBody>
      </p:sp>
      <p:sp>
        <p:nvSpPr>
          <p:cNvPr id="49154" name="Content Placeholder 2">
            <a:extLst>
              <a:ext uri="{FF2B5EF4-FFF2-40B4-BE49-F238E27FC236}">
                <a16:creationId xmlns:a16="http://schemas.microsoft.com/office/drawing/2014/main" id="{581878C1-EC87-4446-81DD-B18E92F77C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74713" y="1177502"/>
            <a:ext cx="7616144" cy="4530725"/>
          </a:xfrm>
        </p:spPr>
        <p:txBody>
          <a:bodyPr/>
          <a:lstStyle/>
          <a:p>
            <a:pPr>
              <a:tabLst>
                <a:tab pos="2736850" algn="l"/>
              </a:tabLst>
            </a:pPr>
            <a:r>
              <a:rPr lang="en-US" altLang="en-US" dirty="0"/>
              <a:t>Each column = Access-control list for one object </a:t>
            </a:r>
            <a:br>
              <a:rPr lang="en-US" altLang="en-US" dirty="0"/>
            </a:br>
            <a:r>
              <a:rPr lang="en-US" altLang="en-US" dirty="0"/>
              <a:t>Defines who can perform what operation</a:t>
            </a:r>
            <a:br>
              <a:rPr lang="en-US" altLang="en-US" dirty="0"/>
            </a:br>
            <a:br>
              <a:rPr lang="en-US" altLang="en-US" sz="1600" dirty="0"/>
            </a:br>
            <a:r>
              <a:rPr lang="en-US" altLang="en-US" sz="1600" dirty="0"/>
              <a:t>	Domain 1 = Read, Write</a:t>
            </a:r>
            <a:br>
              <a:rPr lang="en-US" altLang="en-US" sz="1600" dirty="0"/>
            </a:br>
            <a:r>
              <a:rPr lang="en-US" altLang="en-US" sz="1600" dirty="0"/>
              <a:t>	Domain 2 = Read</a:t>
            </a:r>
            <a:br>
              <a:rPr lang="en-US" altLang="en-US" sz="1600" dirty="0"/>
            </a:br>
            <a:r>
              <a:rPr lang="en-US" altLang="en-US" sz="1600" dirty="0"/>
              <a:t>	Domain 3 = Read</a:t>
            </a:r>
            <a:br>
              <a:rPr lang="en-US" altLang="en-US" sz="1600" dirty="0"/>
            </a:br>
            <a:r>
              <a:rPr lang="en-US" altLang="en-US" sz="1600" dirty="0"/>
              <a:t>	       </a:t>
            </a:r>
            <a:endParaRPr lang="en-US" altLang="en-US" sz="1600" dirty="0">
              <a:sym typeface="MT Extra" panose="05050102010205020202" pitchFamily="18" charset="2"/>
            </a:endParaRPr>
          </a:p>
          <a:p>
            <a:pPr>
              <a:tabLst>
                <a:tab pos="2736850" algn="l"/>
              </a:tabLst>
            </a:pPr>
            <a:r>
              <a:rPr lang="en-US" altLang="en-US" dirty="0">
                <a:sym typeface="MT Extra" panose="05050102010205020202" pitchFamily="18" charset="2"/>
              </a:rPr>
              <a:t>Each Row = Capability List (like a key)</a:t>
            </a:r>
            <a:br>
              <a:rPr lang="en-US" altLang="en-US" dirty="0">
                <a:sym typeface="MT Extra" panose="05050102010205020202" pitchFamily="18" charset="2"/>
              </a:rPr>
            </a:br>
            <a:r>
              <a:rPr lang="en-US" altLang="en-US" dirty="0">
                <a:sym typeface="MT Extra" panose="05050102010205020202" pitchFamily="18" charset="2"/>
              </a:rPr>
              <a:t>For each domain, what operations allowed on what objects</a:t>
            </a:r>
          </a:p>
          <a:p>
            <a:pPr lvl="3">
              <a:buFontTx/>
              <a:buNone/>
              <a:tabLst>
                <a:tab pos="2736850" algn="l"/>
              </a:tabLst>
            </a:pPr>
            <a:r>
              <a:rPr lang="en-US" altLang="en-US" sz="1600" dirty="0"/>
              <a:t>Object F1 – Read</a:t>
            </a:r>
          </a:p>
          <a:p>
            <a:pPr lvl="3">
              <a:buFontTx/>
              <a:buNone/>
              <a:tabLst>
                <a:tab pos="2736850" algn="l"/>
              </a:tabLst>
            </a:pPr>
            <a:r>
              <a:rPr lang="en-US" altLang="en-US" sz="1600" dirty="0"/>
              <a:t>Object F4 – Read, Write, Execute</a:t>
            </a:r>
          </a:p>
          <a:p>
            <a:pPr lvl="3">
              <a:buFontTx/>
              <a:buNone/>
              <a:tabLst>
                <a:tab pos="2736850" algn="l"/>
              </a:tabLst>
            </a:pPr>
            <a:r>
              <a:rPr lang="en-US" altLang="en-US" sz="1600" dirty="0"/>
              <a:t>Object F5 – Read, Write, Delete, Copy</a:t>
            </a:r>
          </a:p>
          <a:p>
            <a:pPr>
              <a:tabLst>
                <a:tab pos="2736850" algn="l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le 1">
            <a:extLst>
              <a:ext uri="{FF2B5EF4-FFF2-40B4-BE49-F238E27FC236}">
                <a16:creationId xmlns:a16="http://schemas.microsoft.com/office/drawing/2014/main" id="{1BD21EFA-2E12-42D0-803F-3912CED229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5032" y="258211"/>
            <a:ext cx="7993841" cy="576263"/>
          </a:xfrm>
        </p:spPr>
        <p:txBody>
          <a:bodyPr/>
          <a:lstStyle/>
          <a:p>
            <a:r>
              <a:rPr lang="en-US" altLang="en-US" dirty="0"/>
              <a:t>Implementation of Access Matrix (Cont.)</a:t>
            </a:r>
          </a:p>
        </p:txBody>
      </p:sp>
      <p:sp>
        <p:nvSpPr>
          <p:cNvPr id="50178" name="Content Placeholder 2">
            <a:extLst>
              <a:ext uri="{FF2B5EF4-FFF2-40B4-BE49-F238E27FC236}">
                <a16:creationId xmlns:a16="http://schemas.microsoft.com/office/drawing/2014/main" id="{0017032B-F196-4479-902B-82E86603A9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9755" y="1175562"/>
            <a:ext cx="7649093" cy="4530725"/>
          </a:xfrm>
        </p:spPr>
        <p:txBody>
          <a:bodyPr/>
          <a:lstStyle/>
          <a:p>
            <a:r>
              <a:rPr lang="en-US" altLang="en-US" dirty="0"/>
              <a:t>Option 3 – Capability list for domains</a:t>
            </a:r>
          </a:p>
          <a:p>
            <a:pPr lvl="1"/>
            <a:r>
              <a:rPr lang="en-US" altLang="en-US" dirty="0"/>
              <a:t>Instead of object-based, list is domain based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Capability list </a:t>
            </a:r>
            <a:r>
              <a:rPr lang="en-US" altLang="en-US" dirty="0"/>
              <a:t>for domain is list of objects together with operations allows on them</a:t>
            </a:r>
          </a:p>
          <a:p>
            <a:pPr lvl="1"/>
            <a:r>
              <a:rPr lang="en-US" altLang="en-US" dirty="0"/>
              <a:t>Object represented by its name or address, called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capability</a:t>
            </a:r>
          </a:p>
          <a:p>
            <a:pPr lvl="1"/>
            <a:r>
              <a:rPr lang="en-US" altLang="en-US" dirty="0"/>
              <a:t>Execute operation M on object </a:t>
            </a:r>
            <a:r>
              <a:rPr lang="en-US" altLang="en-US" dirty="0" err="1"/>
              <a:t>O</a:t>
            </a:r>
            <a:r>
              <a:rPr lang="en-US" altLang="en-US" baseline="-25000" dirty="0" err="1"/>
              <a:t>j</a:t>
            </a:r>
            <a:r>
              <a:rPr lang="en-US" altLang="en-US" dirty="0"/>
              <a:t>, process requests operation and specifies capability as parameter</a:t>
            </a:r>
          </a:p>
          <a:p>
            <a:pPr lvl="2"/>
            <a:r>
              <a:rPr lang="en-US" altLang="en-US" dirty="0"/>
              <a:t>Possession of capability means access is allowed</a:t>
            </a:r>
          </a:p>
          <a:p>
            <a:pPr lvl="1"/>
            <a:r>
              <a:rPr lang="en-US" altLang="en-US" dirty="0"/>
              <a:t>Capability list associated with domain but never directly accessible by domain</a:t>
            </a:r>
          </a:p>
          <a:p>
            <a:pPr lvl="2"/>
            <a:r>
              <a:rPr lang="en-US" altLang="en-US" dirty="0"/>
              <a:t>Rather, protected object, maintained by OS and accessed indirectly</a:t>
            </a:r>
          </a:p>
          <a:p>
            <a:pPr lvl="2"/>
            <a:r>
              <a:rPr lang="en-US" altLang="en-US" dirty="0"/>
              <a:t>Like a </a:t>
            </a:r>
            <a:r>
              <a:rPr lang="ja-JP" altLang="en-US" dirty="0"/>
              <a:t>“</a:t>
            </a:r>
            <a:r>
              <a:rPr lang="en-US" altLang="ja-JP" dirty="0"/>
              <a:t>secure pointer</a:t>
            </a:r>
            <a:r>
              <a:rPr lang="ja-JP" altLang="en-US" dirty="0"/>
              <a:t>”</a:t>
            </a:r>
            <a:endParaRPr lang="en-US" altLang="ja-JP" dirty="0"/>
          </a:p>
          <a:p>
            <a:pPr lvl="2"/>
            <a:r>
              <a:rPr lang="en-US" altLang="en-US" dirty="0"/>
              <a:t>Idea can be extended up to applications</a:t>
            </a:r>
          </a:p>
          <a:p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itle 1">
            <a:extLst>
              <a:ext uri="{FF2B5EF4-FFF2-40B4-BE49-F238E27FC236}">
                <a16:creationId xmlns:a16="http://schemas.microsoft.com/office/drawing/2014/main" id="{416DE31D-6C49-49CE-BA8E-6F1509775A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5343" y="259151"/>
            <a:ext cx="8131336" cy="576262"/>
          </a:xfrm>
        </p:spPr>
        <p:txBody>
          <a:bodyPr/>
          <a:lstStyle/>
          <a:p>
            <a:r>
              <a:rPr lang="en-US" altLang="en-US" dirty="0"/>
              <a:t>Implementation of Access Matrix (Cont.)</a:t>
            </a:r>
          </a:p>
        </p:txBody>
      </p:sp>
      <p:sp>
        <p:nvSpPr>
          <p:cNvPr id="51202" name="Content Placeholder 2">
            <a:extLst>
              <a:ext uri="{FF2B5EF4-FFF2-40B4-BE49-F238E27FC236}">
                <a16:creationId xmlns:a16="http://schemas.microsoft.com/office/drawing/2014/main" id="{9CCEAFA1-3944-4E2F-8016-16B0BBF2B5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9756" y="872186"/>
            <a:ext cx="7677085" cy="4303712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endParaRPr lang="en-US" altLang="en-US" sz="1400" dirty="0"/>
          </a:p>
          <a:p>
            <a:r>
              <a:rPr lang="en-US" altLang="en-US" dirty="0"/>
              <a:t>Option 4 – Lock-key</a:t>
            </a:r>
          </a:p>
          <a:p>
            <a:pPr lvl="1"/>
            <a:r>
              <a:rPr lang="en-US" altLang="en-US" dirty="0"/>
              <a:t>Compromise between access lists and capability lists</a:t>
            </a:r>
          </a:p>
          <a:p>
            <a:pPr lvl="1"/>
            <a:r>
              <a:rPr lang="en-US" altLang="en-US" dirty="0"/>
              <a:t>Each object has list of unique bit patterns,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locks</a:t>
            </a:r>
          </a:p>
          <a:p>
            <a:pPr lvl="1"/>
            <a:r>
              <a:rPr lang="en-US" altLang="en-US" dirty="0"/>
              <a:t>Each domain as list of unique bit patterns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keys</a:t>
            </a:r>
          </a:p>
          <a:p>
            <a:pPr lvl="1"/>
            <a:r>
              <a:rPr lang="en-US" altLang="en-US" dirty="0"/>
              <a:t>Process in a domain can only access object if domain has key that matches one of the locks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>
            <a:extLst>
              <a:ext uri="{FF2B5EF4-FFF2-40B4-BE49-F238E27FC236}">
                <a16:creationId xmlns:a16="http://schemas.microsoft.com/office/drawing/2014/main" id="{5813E91C-362F-414C-97A0-1A7ABD72C6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7413" y="238969"/>
            <a:ext cx="7799387" cy="576263"/>
          </a:xfrm>
        </p:spPr>
        <p:txBody>
          <a:bodyPr/>
          <a:lstStyle/>
          <a:p>
            <a:r>
              <a:rPr lang="en-US" altLang="en-US" dirty="0"/>
              <a:t>Comparison of Implementations</a:t>
            </a:r>
          </a:p>
        </p:txBody>
      </p:sp>
      <p:sp>
        <p:nvSpPr>
          <p:cNvPr id="52226" name="Content Placeholder 2">
            <a:extLst>
              <a:ext uri="{FF2B5EF4-FFF2-40B4-BE49-F238E27FC236}">
                <a16:creationId xmlns:a16="http://schemas.microsoft.com/office/drawing/2014/main" id="{B22FA6D0-9E8B-4B76-AEE7-61914B2D49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9756" y="1180942"/>
            <a:ext cx="7667754" cy="4530725"/>
          </a:xfrm>
        </p:spPr>
        <p:txBody>
          <a:bodyPr/>
          <a:lstStyle/>
          <a:p>
            <a:r>
              <a:rPr lang="en-US" altLang="en-US" dirty="0"/>
              <a:t>Many trade-offs to consider</a:t>
            </a:r>
          </a:p>
          <a:p>
            <a:pPr lvl="1"/>
            <a:r>
              <a:rPr lang="en-US" altLang="en-US" dirty="0"/>
              <a:t>Global table is simple, but can be large</a:t>
            </a:r>
          </a:p>
          <a:p>
            <a:pPr lvl="1"/>
            <a:r>
              <a:rPr lang="en-US" altLang="en-US" dirty="0"/>
              <a:t>Access lists correspond to needs of users</a:t>
            </a:r>
          </a:p>
          <a:p>
            <a:pPr lvl="2"/>
            <a:r>
              <a:rPr lang="en-US" altLang="en-US" dirty="0"/>
              <a:t>Determining set of access rights for domain non-localized so difficult</a:t>
            </a:r>
          </a:p>
          <a:p>
            <a:pPr lvl="2"/>
            <a:r>
              <a:rPr lang="en-US" altLang="en-US" dirty="0"/>
              <a:t>Every access to an object must be checked</a:t>
            </a:r>
          </a:p>
          <a:p>
            <a:pPr lvl="3"/>
            <a:r>
              <a:rPr lang="en-US" altLang="en-US" dirty="0"/>
              <a:t>Many objects and access rights -&gt; slow</a:t>
            </a:r>
          </a:p>
          <a:p>
            <a:pPr lvl="1"/>
            <a:r>
              <a:rPr lang="en-US" altLang="en-US" dirty="0"/>
              <a:t>Capability lists useful for localizing information for a given process</a:t>
            </a:r>
          </a:p>
          <a:p>
            <a:pPr lvl="2"/>
            <a:r>
              <a:rPr lang="en-US" altLang="en-US" dirty="0"/>
              <a:t>But revocation capabilities can be inefficient</a:t>
            </a:r>
          </a:p>
          <a:p>
            <a:pPr lvl="1"/>
            <a:r>
              <a:rPr lang="en-US" altLang="en-US" dirty="0"/>
              <a:t>Lock-key effective and flexible, keys can be passed freely from domain to domain, easy revocation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itle 1">
            <a:extLst>
              <a:ext uri="{FF2B5EF4-FFF2-40B4-BE49-F238E27FC236}">
                <a16:creationId xmlns:a16="http://schemas.microsoft.com/office/drawing/2014/main" id="{052027DE-8E8B-4329-BD0D-4BDA1878BB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6407" y="248884"/>
            <a:ext cx="8252732" cy="576263"/>
          </a:xfrm>
        </p:spPr>
        <p:txBody>
          <a:bodyPr/>
          <a:lstStyle/>
          <a:p>
            <a:r>
              <a:rPr lang="en-US" altLang="en-US" dirty="0"/>
              <a:t>Comparison of Implementations (Cont.)</a:t>
            </a:r>
          </a:p>
        </p:txBody>
      </p:sp>
      <p:sp>
        <p:nvSpPr>
          <p:cNvPr id="53250" name="Content Placeholder 2">
            <a:extLst>
              <a:ext uri="{FF2B5EF4-FFF2-40B4-BE49-F238E27FC236}">
                <a16:creationId xmlns:a16="http://schemas.microsoft.com/office/drawing/2014/main" id="{06BE5B8D-428F-4605-98DD-93CF68677B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9756" y="1176567"/>
            <a:ext cx="7695746" cy="4530725"/>
          </a:xfrm>
        </p:spPr>
        <p:txBody>
          <a:bodyPr/>
          <a:lstStyle/>
          <a:p>
            <a:r>
              <a:rPr lang="en-US" altLang="en-US" dirty="0"/>
              <a:t>Most systems use combination of access lists and capabilities</a:t>
            </a:r>
          </a:p>
          <a:p>
            <a:pPr lvl="1"/>
            <a:r>
              <a:rPr lang="en-US" altLang="en-US" dirty="0"/>
              <a:t>First access to an object -&gt; access list searched</a:t>
            </a:r>
          </a:p>
          <a:p>
            <a:pPr lvl="2"/>
            <a:r>
              <a:rPr lang="en-US" altLang="en-US" dirty="0"/>
              <a:t>If allowed, capability created and attached to process</a:t>
            </a:r>
          </a:p>
          <a:p>
            <a:pPr lvl="3"/>
            <a:r>
              <a:rPr lang="en-US" altLang="en-US" dirty="0"/>
              <a:t>Additional accesses need not be checked</a:t>
            </a:r>
          </a:p>
          <a:p>
            <a:pPr lvl="2"/>
            <a:r>
              <a:rPr lang="en-US" altLang="en-US" dirty="0"/>
              <a:t>After last access, capability destroyed</a:t>
            </a:r>
          </a:p>
          <a:p>
            <a:pPr lvl="2"/>
            <a:r>
              <a:rPr lang="en-US" altLang="en-US" dirty="0"/>
              <a:t>Consider file system with ACLs per file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>
            <a:extLst>
              <a:ext uri="{FF2B5EF4-FFF2-40B4-BE49-F238E27FC236}">
                <a16:creationId xmlns:a16="http://schemas.microsoft.com/office/drawing/2014/main" id="{FEBB16C6-7862-4862-A0AB-C5CC92D19E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9515" y="248301"/>
            <a:ext cx="7673975" cy="576263"/>
          </a:xfrm>
        </p:spPr>
        <p:txBody>
          <a:bodyPr/>
          <a:lstStyle/>
          <a:p>
            <a:pPr eaLnBrk="1" hangingPunct="1"/>
            <a:r>
              <a:rPr lang="en-US" altLang="en-US"/>
              <a:t>Revocation of Access Rights</a:t>
            </a:r>
          </a:p>
        </p:txBody>
      </p:sp>
      <p:sp>
        <p:nvSpPr>
          <p:cNvPr id="54274" name="Rectangle 3">
            <a:extLst>
              <a:ext uri="{FF2B5EF4-FFF2-40B4-BE49-F238E27FC236}">
                <a16:creationId xmlns:a16="http://schemas.microsoft.com/office/drawing/2014/main" id="{9ED05D7B-880D-4083-B975-E3F6B95EB6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3707" y="1172227"/>
            <a:ext cx="7607820" cy="4740275"/>
          </a:xfrm>
        </p:spPr>
        <p:txBody>
          <a:bodyPr/>
          <a:lstStyle/>
          <a:p>
            <a:r>
              <a:rPr lang="en-US" altLang="en-US" dirty="0"/>
              <a:t>Various options to remove the access right of a domain to an object</a:t>
            </a:r>
          </a:p>
          <a:p>
            <a:pPr lvl="1"/>
            <a:r>
              <a:rPr lang="en-US" altLang="en-US" b="1" dirty="0"/>
              <a:t>Immediate vs. delayed</a:t>
            </a:r>
          </a:p>
          <a:p>
            <a:pPr lvl="1"/>
            <a:r>
              <a:rPr lang="en-US" altLang="en-US" b="1" dirty="0"/>
              <a:t>Selective vs. general</a:t>
            </a:r>
          </a:p>
          <a:p>
            <a:pPr lvl="1"/>
            <a:r>
              <a:rPr lang="en-US" altLang="en-US" b="1" dirty="0"/>
              <a:t>Partial vs. total</a:t>
            </a:r>
          </a:p>
          <a:p>
            <a:pPr lvl="1"/>
            <a:r>
              <a:rPr lang="en-US" altLang="en-US" b="1" dirty="0"/>
              <a:t>Temporary vs. permanent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Access List </a:t>
            </a:r>
            <a:r>
              <a:rPr lang="en-US" altLang="en-US" dirty="0"/>
              <a:t>– Delete access rights from access list</a:t>
            </a:r>
          </a:p>
          <a:p>
            <a:pPr lvl="1"/>
            <a:r>
              <a:rPr lang="en-US" altLang="en-US" b="1" dirty="0"/>
              <a:t>Simple</a:t>
            </a:r>
            <a:r>
              <a:rPr lang="en-US" altLang="en-US" dirty="0"/>
              <a:t> – search access list and remove entry</a:t>
            </a:r>
          </a:p>
          <a:p>
            <a:pPr lvl="1"/>
            <a:r>
              <a:rPr lang="en-US" altLang="en-US" b="1" dirty="0"/>
              <a:t>Immediate</a:t>
            </a:r>
            <a:r>
              <a:rPr lang="en-US" altLang="en-US" dirty="0"/>
              <a:t>, </a:t>
            </a:r>
            <a:r>
              <a:rPr lang="en-US" altLang="en-US" b="1" dirty="0"/>
              <a:t>general</a:t>
            </a:r>
            <a:r>
              <a:rPr lang="en-US" altLang="en-US" dirty="0"/>
              <a:t> or </a:t>
            </a:r>
            <a:r>
              <a:rPr lang="en-US" altLang="en-US" b="1" dirty="0"/>
              <a:t>selective</a:t>
            </a:r>
            <a:r>
              <a:rPr lang="en-US" altLang="en-US" dirty="0"/>
              <a:t>, </a:t>
            </a:r>
            <a:r>
              <a:rPr lang="en-US" altLang="en-US" b="1" dirty="0"/>
              <a:t>total</a:t>
            </a:r>
            <a:r>
              <a:rPr lang="en-US" altLang="en-US" dirty="0"/>
              <a:t> or </a:t>
            </a:r>
            <a:r>
              <a:rPr lang="en-US" altLang="en-US" b="1" dirty="0"/>
              <a:t>partial</a:t>
            </a:r>
            <a:r>
              <a:rPr lang="en-US" altLang="en-US" dirty="0"/>
              <a:t>, </a:t>
            </a:r>
            <a:r>
              <a:rPr lang="en-US" altLang="en-US" b="1" dirty="0"/>
              <a:t>permanent</a:t>
            </a:r>
            <a:r>
              <a:rPr lang="en-US" altLang="en-US" dirty="0"/>
              <a:t> or </a:t>
            </a:r>
            <a:r>
              <a:rPr lang="en-US" altLang="en-US" b="1" dirty="0"/>
              <a:t>temporary</a:t>
            </a:r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>
            <a:extLst>
              <a:ext uri="{FF2B5EF4-FFF2-40B4-BE49-F238E27FC236}">
                <a16:creationId xmlns:a16="http://schemas.microsoft.com/office/drawing/2014/main" id="{9BD1D6E4-3CA2-4446-855D-B504EE995E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4836" y="248299"/>
            <a:ext cx="767397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Revocation of Access Rights (Cont.)</a:t>
            </a:r>
          </a:p>
        </p:txBody>
      </p:sp>
      <p:sp>
        <p:nvSpPr>
          <p:cNvPr id="56322" name="Rectangle 3">
            <a:extLst>
              <a:ext uri="{FF2B5EF4-FFF2-40B4-BE49-F238E27FC236}">
                <a16:creationId xmlns:a16="http://schemas.microsoft.com/office/drawing/2014/main" id="{E12B3F72-0B4C-4617-BB4E-D505C4075F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9087" y="1177180"/>
            <a:ext cx="7383463" cy="4740275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Capability List </a:t>
            </a:r>
            <a:r>
              <a:rPr lang="en-US" altLang="en-US" dirty="0"/>
              <a:t>– Scheme required to locate capability in the system before capability can be revoked</a:t>
            </a:r>
          </a:p>
          <a:p>
            <a:pPr lvl="1"/>
            <a:r>
              <a:rPr lang="en-US" altLang="en-US" b="1" dirty="0"/>
              <a:t>Reacquisition</a:t>
            </a:r>
            <a:r>
              <a:rPr lang="en-US" altLang="en-US" dirty="0"/>
              <a:t> – periodic delete, with require and denial if revoked</a:t>
            </a:r>
          </a:p>
          <a:p>
            <a:pPr lvl="1"/>
            <a:r>
              <a:rPr lang="en-US" altLang="en-US" b="1" dirty="0"/>
              <a:t>Back-pointers </a:t>
            </a:r>
            <a:r>
              <a:rPr lang="en-US" altLang="en-US" dirty="0"/>
              <a:t>– set of pointers from each object to all capabilities of that object (Multics)</a:t>
            </a:r>
          </a:p>
          <a:p>
            <a:pPr lvl="1"/>
            <a:r>
              <a:rPr lang="en-US" altLang="en-US" b="1" dirty="0"/>
              <a:t>Indirection</a:t>
            </a:r>
            <a:r>
              <a:rPr lang="en-US" altLang="en-US" dirty="0"/>
              <a:t> – capability points to global table entry which points to object – delete entry from global table, not selective (CAL)</a:t>
            </a:r>
          </a:p>
          <a:p>
            <a:pPr lvl="1"/>
            <a:r>
              <a:rPr lang="en-US" altLang="en-US" b="1" dirty="0"/>
              <a:t>Keys</a:t>
            </a:r>
            <a:r>
              <a:rPr lang="en-US" altLang="en-US" dirty="0"/>
              <a:t> – unique bits associated with capability, generated when capability created</a:t>
            </a:r>
          </a:p>
          <a:p>
            <a:pPr lvl="2"/>
            <a:r>
              <a:rPr lang="en-US" altLang="en-US" dirty="0"/>
              <a:t>Master key associated with object, key matches master key for access</a:t>
            </a:r>
          </a:p>
          <a:p>
            <a:pPr lvl="2"/>
            <a:r>
              <a:rPr lang="en-US" altLang="en-US" dirty="0"/>
              <a:t>Revocation – create new master key</a:t>
            </a:r>
          </a:p>
          <a:p>
            <a:pPr lvl="2"/>
            <a:r>
              <a:rPr lang="en-US" altLang="en-US" dirty="0"/>
              <a:t>Policy decision of who can create and modify keys – object owner or others?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>
            <a:extLst>
              <a:ext uri="{FF2B5EF4-FFF2-40B4-BE49-F238E27FC236}">
                <a16:creationId xmlns:a16="http://schemas.microsoft.com/office/drawing/2014/main" id="{E0A0C004-CD2A-4E27-A79D-B444BE4633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90563" y="238972"/>
            <a:ext cx="799623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Role-based Access Control</a:t>
            </a:r>
          </a:p>
        </p:txBody>
      </p:sp>
      <p:sp>
        <p:nvSpPr>
          <p:cNvPr id="58370" name="Rectangle 3">
            <a:extLst>
              <a:ext uri="{FF2B5EF4-FFF2-40B4-BE49-F238E27FC236}">
                <a16:creationId xmlns:a16="http://schemas.microsoft.com/office/drawing/2014/main" id="{1257AC9D-82DF-4300-A6BB-4D40CEAC3A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6724" y="1171611"/>
            <a:ext cx="4310062" cy="4813300"/>
          </a:xfrm>
        </p:spPr>
        <p:txBody>
          <a:bodyPr/>
          <a:lstStyle/>
          <a:p>
            <a:r>
              <a:rPr lang="en-US" altLang="en-US" dirty="0"/>
              <a:t>Protection can be applied to non-file resources</a:t>
            </a:r>
          </a:p>
          <a:p>
            <a:r>
              <a:rPr lang="en-US" altLang="en-US" dirty="0"/>
              <a:t>Oracle Solaris 10 provides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role-based access control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RBAC</a:t>
            </a:r>
            <a:r>
              <a:rPr lang="en-US" altLang="en-US" dirty="0"/>
              <a:t>)</a:t>
            </a:r>
            <a:r>
              <a:rPr lang="en-US" altLang="en-US" b="1" dirty="0"/>
              <a:t> </a:t>
            </a:r>
            <a:r>
              <a:rPr lang="en-US" altLang="en-US" dirty="0"/>
              <a:t>to implement least privilege</a:t>
            </a:r>
          </a:p>
          <a:p>
            <a:pPr lvl="1"/>
            <a:r>
              <a:rPr lang="en-US" altLang="en-US" b="1" i="1" dirty="0"/>
              <a:t>Privilege</a:t>
            </a:r>
            <a:r>
              <a:rPr lang="en-US" altLang="en-US" i="1" dirty="0"/>
              <a:t> </a:t>
            </a:r>
            <a:r>
              <a:rPr lang="en-US" altLang="en-US" dirty="0"/>
              <a:t>is right to execute system call or use an option within a system call</a:t>
            </a:r>
          </a:p>
          <a:p>
            <a:pPr lvl="1"/>
            <a:r>
              <a:rPr lang="en-US" altLang="en-US" dirty="0"/>
              <a:t>Can be assigned to processes</a:t>
            </a:r>
          </a:p>
          <a:p>
            <a:pPr lvl="1"/>
            <a:r>
              <a:rPr lang="en-US" altLang="en-US" dirty="0"/>
              <a:t>Users assigned </a:t>
            </a:r>
            <a:r>
              <a:rPr lang="en-US" altLang="en-US" b="1" i="1" dirty="0"/>
              <a:t>roles</a:t>
            </a:r>
            <a:r>
              <a:rPr lang="en-US" altLang="en-US" i="1" dirty="0"/>
              <a:t> </a:t>
            </a:r>
            <a:r>
              <a:rPr lang="en-US" altLang="en-US" dirty="0"/>
              <a:t>granting access to privileges and programs</a:t>
            </a:r>
          </a:p>
          <a:p>
            <a:pPr lvl="2"/>
            <a:r>
              <a:rPr lang="en-US" altLang="en-US" dirty="0"/>
              <a:t>Enable role via password to gain its privileges</a:t>
            </a:r>
          </a:p>
          <a:p>
            <a:pPr lvl="1"/>
            <a:r>
              <a:rPr lang="en-US" altLang="en-US" dirty="0"/>
              <a:t>Similar to access matrix</a:t>
            </a:r>
          </a:p>
          <a:p>
            <a:pPr lvl="1"/>
            <a:endParaRPr lang="en-US" altLang="en-US" dirty="0"/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</p:txBody>
      </p:sp>
      <p:pic>
        <p:nvPicPr>
          <p:cNvPr id="58371" name="Picture 2">
            <a:extLst>
              <a:ext uri="{FF2B5EF4-FFF2-40B4-BE49-F238E27FC236}">
                <a16:creationId xmlns:a16="http://schemas.microsoft.com/office/drawing/2014/main" id="{C699093D-4FCD-464D-B19B-18426AD98C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2113" y="1223963"/>
            <a:ext cx="3486150" cy="468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>
            <a:extLst>
              <a:ext uri="{FF2B5EF4-FFF2-40B4-BE49-F238E27FC236}">
                <a16:creationId xmlns:a16="http://schemas.microsoft.com/office/drawing/2014/main" id="{988B5745-1D4E-49E6-A63B-1C57DDB17D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1194" y="238970"/>
            <a:ext cx="799623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Mandatory Access Control (MAC)</a:t>
            </a:r>
          </a:p>
        </p:txBody>
      </p:sp>
      <p:sp>
        <p:nvSpPr>
          <p:cNvPr id="60418" name="Rectangle 3">
            <a:extLst>
              <a:ext uri="{FF2B5EF4-FFF2-40B4-BE49-F238E27FC236}">
                <a16:creationId xmlns:a16="http://schemas.microsoft.com/office/drawing/2014/main" id="{AE8EBAA9-33D9-4184-A469-EECAF8E90E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6724" y="1171611"/>
            <a:ext cx="7670117" cy="4813300"/>
          </a:xfrm>
        </p:spPr>
        <p:txBody>
          <a:bodyPr/>
          <a:lstStyle/>
          <a:p>
            <a:r>
              <a:rPr lang="en-US" altLang="en-US" dirty="0"/>
              <a:t>Operating systems traditionally had discretionary access control (DAC) to limit access to files and other objects (for example UNIX file permissions and Windows access control lists (ACLs))</a:t>
            </a:r>
          </a:p>
          <a:p>
            <a:pPr lvl="1"/>
            <a:r>
              <a:rPr lang="en-US" altLang="en-US" dirty="0"/>
              <a:t>Discretionary is a weakness – users / admins need to do something to increase protection</a:t>
            </a:r>
          </a:p>
          <a:p>
            <a:r>
              <a:rPr lang="en-US" altLang="en-US" dirty="0"/>
              <a:t>Stronger form is mandatory access control, which even root user can’t circumvent</a:t>
            </a:r>
          </a:p>
          <a:p>
            <a:pPr lvl="1"/>
            <a:r>
              <a:rPr lang="en-US" altLang="en-US" dirty="0"/>
              <a:t>Makes resources inaccessible except to their intended owners</a:t>
            </a:r>
          </a:p>
          <a:p>
            <a:pPr lvl="1"/>
            <a:r>
              <a:rPr lang="en-US" altLang="en-US" dirty="0"/>
              <a:t>Modern systems implement both MAC and DAC, with MAC usually a more secure, optional configuration (Trusted Solaris, </a:t>
            </a:r>
            <a:r>
              <a:rPr lang="en-US" altLang="en-US" dirty="0" err="1"/>
              <a:t>TrustedBSD</a:t>
            </a:r>
            <a:r>
              <a:rPr lang="en-US" altLang="en-US" dirty="0"/>
              <a:t> (used in macOS), </a:t>
            </a:r>
            <a:r>
              <a:rPr lang="en-US" altLang="en-US" dirty="0" err="1"/>
              <a:t>SELinux</a:t>
            </a:r>
            <a:r>
              <a:rPr lang="en-US" altLang="en-US" dirty="0"/>
              <a:t>), Windows Vista MAC)</a:t>
            </a:r>
          </a:p>
          <a:p>
            <a:r>
              <a:rPr lang="en-US" altLang="en-US" dirty="0"/>
              <a:t>At its heart, labels assigned to objects and subjects (including processes)</a:t>
            </a:r>
          </a:p>
          <a:p>
            <a:pPr lvl="1"/>
            <a:r>
              <a:rPr lang="en-US" altLang="en-US" dirty="0"/>
              <a:t>When a subject requests access to an object, policy checked to determine whether or not a given label-holding subject is allowed to perform the action on the object </a:t>
            </a:r>
          </a:p>
          <a:p>
            <a:endParaRPr lang="en-US" altLang="en-US" dirty="0"/>
          </a:p>
          <a:p>
            <a:pPr lvl="1"/>
            <a:endParaRPr lang="en-US" altLang="en-US" dirty="0"/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>
            <a:extLst>
              <a:ext uri="{FF2B5EF4-FFF2-40B4-BE49-F238E27FC236}">
                <a16:creationId xmlns:a16="http://schemas.microsoft.com/office/drawing/2014/main" id="{29C53F21-6353-4591-AD96-64FBD4A542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8482" y="238969"/>
            <a:ext cx="7721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Capability-Based Systems </a:t>
            </a:r>
          </a:p>
        </p:txBody>
      </p:sp>
      <p:sp>
        <p:nvSpPr>
          <p:cNvPr id="62466" name="Rectangle 3">
            <a:extLst>
              <a:ext uri="{FF2B5EF4-FFF2-40B4-BE49-F238E27FC236}">
                <a16:creationId xmlns:a16="http://schemas.microsoft.com/office/drawing/2014/main" id="{487BCB95-E3D7-4F15-89A0-1ACFAB4FE4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6387" y="1134904"/>
            <a:ext cx="7721600" cy="4713288"/>
          </a:xfrm>
        </p:spPr>
        <p:txBody>
          <a:bodyPr/>
          <a:lstStyle/>
          <a:p>
            <a:r>
              <a:rPr lang="en-US" altLang="en-US" dirty="0"/>
              <a:t>Hydra and CAP were first capability-based systems</a:t>
            </a:r>
          </a:p>
          <a:p>
            <a:r>
              <a:rPr lang="en-US" altLang="en-US" dirty="0"/>
              <a:t>Now included in Linux, Android and others, based on POSIX.1e (that never became a standard)</a:t>
            </a:r>
          </a:p>
          <a:p>
            <a:pPr lvl="1"/>
            <a:r>
              <a:rPr lang="en-US" altLang="en-US" dirty="0"/>
              <a:t>Essentially slices up root powers into distinct areas, each represented by a bitmap bit</a:t>
            </a:r>
          </a:p>
          <a:p>
            <a:pPr lvl="1"/>
            <a:r>
              <a:rPr lang="en-US" altLang="en-US" dirty="0"/>
              <a:t>Fine grain control over privileged operations can be achieved by setting or masking the bitmap</a:t>
            </a:r>
          </a:p>
          <a:p>
            <a:pPr lvl="1"/>
            <a:r>
              <a:rPr lang="en-US" altLang="en-US" dirty="0"/>
              <a:t>Three sets of bitmaps – permitted, effective, and inheritable</a:t>
            </a:r>
          </a:p>
          <a:p>
            <a:pPr lvl="2"/>
            <a:r>
              <a:rPr lang="en-US" altLang="en-US" dirty="0"/>
              <a:t>Can apply per process or per thread</a:t>
            </a:r>
          </a:p>
          <a:p>
            <a:pPr lvl="2"/>
            <a:r>
              <a:rPr lang="en-US" altLang="en-US" dirty="0"/>
              <a:t>Once revoked, cannot be reacquired</a:t>
            </a:r>
          </a:p>
          <a:p>
            <a:pPr lvl="2"/>
            <a:r>
              <a:rPr lang="en-US" altLang="en-US" dirty="0"/>
              <a:t>Process or thread starts with all </a:t>
            </a:r>
            <a:r>
              <a:rPr lang="en-US" altLang="en-US" dirty="0" err="1"/>
              <a:t>privs</a:t>
            </a:r>
            <a:r>
              <a:rPr lang="en-US" altLang="en-US" dirty="0"/>
              <a:t>, voluntarily decreases set during execution</a:t>
            </a:r>
          </a:p>
          <a:p>
            <a:pPr lvl="2"/>
            <a:r>
              <a:rPr lang="en-US" altLang="en-US" dirty="0"/>
              <a:t>Essentially a direct implementation of the principle of least privilege</a:t>
            </a:r>
          </a:p>
          <a:p>
            <a:r>
              <a:rPr lang="en-US" altLang="en-US" dirty="0"/>
              <a:t>An improvement over root having all privileges but inflexible (adding new privilege difficult, etc.)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itle 1">
            <a:extLst>
              <a:ext uri="{FF2B5EF4-FFF2-40B4-BE49-F238E27FC236}">
                <a16:creationId xmlns:a16="http://schemas.microsoft.com/office/drawing/2014/main" id="{1A517079-06E7-4CA5-AF0D-A82719C198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8752" y="242106"/>
            <a:ext cx="7549662" cy="576262"/>
          </a:xfrm>
        </p:spPr>
        <p:txBody>
          <a:bodyPr/>
          <a:lstStyle/>
          <a:p>
            <a:r>
              <a:rPr lang="en-US" altLang="en-US" dirty="0"/>
              <a:t>Capabilities in POSIX.1e </a:t>
            </a:r>
          </a:p>
        </p:txBody>
      </p:sp>
      <p:pic>
        <p:nvPicPr>
          <p:cNvPr id="64514" name="Picture 2">
            <a:extLst>
              <a:ext uri="{FF2B5EF4-FFF2-40B4-BE49-F238E27FC236}">
                <a16:creationId xmlns:a16="http://schemas.microsoft.com/office/drawing/2014/main" id="{EFA33A4A-34BD-4A1F-B68F-D1351A73C7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675" y="1057275"/>
            <a:ext cx="6953250" cy="523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>
            <a:extLst>
              <a:ext uri="{FF2B5EF4-FFF2-40B4-BE49-F238E27FC236}">
                <a16:creationId xmlns:a16="http://schemas.microsoft.com/office/drawing/2014/main" id="{B5FA0224-E289-41F1-BB37-F333D99BCC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50830" y="258215"/>
            <a:ext cx="786923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Other Protection Improvement Methods</a:t>
            </a:r>
          </a:p>
        </p:txBody>
      </p:sp>
      <p:sp>
        <p:nvSpPr>
          <p:cNvPr id="65538" name="Rectangle 3">
            <a:extLst>
              <a:ext uri="{FF2B5EF4-FFF2-40B4-BE49-F238E27FC236}">
                <a16:creationId xmlns:a16="http://schemas.microsoft.com/office/drawing/2014/main" id="{B22DBCA7-E725-412A-9F18-5D6614992E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5049" y="1188844"/>
            <a:ext cx="7736438" cy="4530725"/>
          </a:xfrm>
        </p:spPr>
        <p:txBody>
          <a:bodyPr/>
          <a:lstStyle/>
          <a:p>
            <a:r>
              <a:rPr lang="en-US" altLang="en-US" dirty="0"/>
              <a:t>System integrity protection (SIP)</a:t>
            </a:r>
          </a:p>
          <a:p>
            <a:pPr lvl="1"/>
            <a:r>
              <a:rPr lang="en-US" altLang="en-US" dirty="0"/>
              <a:t>Introduced by Apple in macOS 10.11</a:t>
            </a:r>
          </a:p>
          <a:p>
            <a:pPr lvl="1"/>
            <a:r>
              <a:rPr lang="en-US" altLang="en-US" dirty="0"/>
              <a:t>Restricts access to system files and resources, even by root</a:t>
            </a:r>
          </a:p>
          <a:p>
            <a:pPr lvl="1"/>
            <a:r>
              <a:rPr lang="en-US" altLang="en-US" dirty="0"/>
              <a:t>Uses extended file </a:t>
            </a:r>
            <a:r>
              <a:rPr lang="en-US" altLang="en-US" dirty="0" err="1"/>
              <a:t>attribs</a:t>
            </a:r>
            <a:r>
              <a:rPr lang="en-US" altLang="en-US" dirty="0"/>
              <a:t> to mark a binary to restrict changes, disable debugging and scrutinizing</a:t>
            </a:r>
          </a:p>
          <a:p>
            <a:pPr lvl="1"/>
            <a:r>
              <a:rPr lang="en-US" altLang="en-US" dirty="0"/>
              <a:t>Also, only code-signed kernel extensions allowed and </a:t>
            </a:r>
            <a:r>
              <a:rPr lang="en-US" altLang="en-US" dirty="0" err="1"/>
              <a:t>configurably</a:t>
            </a:r>
            <a:r>
              <a:rPr lang="en-US" altLang="en-US" dirty="0"/>
              <a:t> only code-signed apps</a:t>
            </a:r>
          </a:p>
          <a:p>
            <a:r>
              <a:rPr lang="en-US" altLang="en-US" dirty="0"/>
              <a:t>System-call filtering</a:t>
            </a:r>
          </a:p>
          <a:p>
            <a:pPr lvl="1"/>
            <a:r>
              <a:rPr lang="en-US" altLang="en-US" dirty="0"/>
              <a:t>Like a firewall, for system calls</a:t>
            </a:r>
          </a:p>
          <a:p>
            <a:pPr lvl="1"/>
            <a:r>
              <a:rPr lang="en-US" altLang="en-US" dirty="0"/>
              <a:t>Can also be deeper –inspecting all system call arguments</a:t>
            </a:r>
          </a:p>
          <a:p>
            <a:pPr lvl="1"/>
            <a:r>
              <a:rPr lang="en-US" altLang="en-US" dirty="0"/>
              <a:t>Linux implements via SECCOMP-BPF (Berkeley packet filtering)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>
            <a:extLst>
              <a:ext uri="{FF2B5EF4-FFF2-40B4-BE49-F238E27FC236}">
                <a16:creationId xmlns:a16="http://schemas.microsoft.com/office/drawing/2014/main" id="{9434B0B2-9AD1-4B3E-A1D3-6DF21C72C2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8941" y="295540"/>
            <a:ext cx="7869237" cy="57626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Other Protection</a:t>
            </a:r>
            <a:br>
              <a:rPr lang="en-US" altLang="en-US" sz="2800" dirty="0"/>
            </a:br>
            <a:r>
              <a:rPr lang="en-US" altLang="en-US" sz="2800" dirty="0"/>
              <a:t>Improvement Methods (Cont.)</a:t>
            </a:r>
          </a:p>
        </p:txBody>
      </p:sp>
      <p:sp>
        <p:nvSpPr>
          <p:cNvPr id="67586" name="Rectangle 3">
            <a:extLst>
              <a:ext uri="{FF2B5EF4-FFF2-40B4-BE49-F238E27FC236}">
                <a16:creationId xmlns:a16="http://schemas.microsoft.com/office/drawing/2014/main" id="{814773F3-DECD-43D6-B543-50E70B8D59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5049" y="1188844"/>
            <a:ext cx="7643131" cy="4530725"/>
          </a:xfrm>
        </p:spPr>
        <p:txBody>
          <a:bodyPr/>
          <a:lstStyle/>
          <a:p>
            <a:r>
              <a:rPr lang="en-US" altLang="en-US" dirty="0"/>
              <a:t>Sandboxing</a:t>
            </a:r>
          </a:p>
          <a:p>
            <a:pPr lvl="1"/>
            <a:r>
              <a:rPr lang="en-US" altLang="en-US" dirty="0"/>
              <a:t>Running process in limited environment</a:t>
            </a:r>
          </a:p>
          <a:p>
            <a:pPr lvl="1"/>
            <a:r>
              <a:rPr lang="en-US" altLang="en-US" dirty="0"/>
              <a:t>Impose set of irremovable restrictions early in startup of process (before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Process then unable to access any resources beyond its allowed set</a:t>
            </a:r>
          </a:p>
          <a:p>
            <a:pPr lvl="1"/>
            <a:r>
              <a:rPr lang="en-US" altLang="en-US" dirty="0"/>
              <a:t>Java and </a:t>
            </a:r>
            <a:r>
              <a:rPr lang="en-US" altLang="en-US" dirty="0" err="1"/>
              <a:t>.net</a:t>
            </a:r>
            <a:r>
              <a:rPr lang="en-US" altLang="en-US" dirty="0"/>
              <a:t> implement at a virtual machine level</a:t>
            </a:r>
          </a:p>
          <a:p>
            <a:pPr lvl="1"/>
            <a:r>
              <a:rPr lang="en-US" altLang="en-US" dirty="0"/>
              <a:t>Other systems use MAC to implement</a:t>
            </a:r>
          </a:p>
          <a:p>
            <a:pPr lvl="1"/>
            <a:r>
              <a:rPr lang="en-US" altLang="en-US" dirty="0"/>
              <a:t>Apple was an early adopter, from macOS 10.5’s “seatbelt” feature</a:t>
            </a:r>
          </a:p>
          <a:p>
            <a:pPr lvl="2"/>
            <a:r>
              <a:rPr lang="en-US" altLang="en-US" dirty="0"/>
              <a:t>Dynamic profiles written in the Scheme language, managing system calls even at the argument level</a:t>
            </a:r>
          </a:p>
          <a:p>
            <a:pPr lvl="2"/>
            <a:r>
              <a:rPr lang="en-US" altLang="en-US" dirty="0"/>
              <a:t>Apple now does SIP, a system-wide platform profile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>
            <a:extLst>
              <a:ext uri="{FF2B5EF4-FFF2-40B4-BE49-F238E27FC236}">
                <a16:creationId xmlns:a16="http://schemas.microsoft.com/office/drawing/2014/main" id="{9F774BF6-D914-4AE4-BE09-BA2F39BF6B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14924" y="295538"/>
            <a:ext cx="7869237" cy="57626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Other Protection</a:t>
            </a:r>
            <a:br>
              <a:rPr lang="en-US" altLang="en-US" sz="2800" dirty="0"/>
            </a:br>
            <a:r>
              <a:rPr lang="en-US" altLang="en-US" sz="2800" dirty="0"/>
              <a:t>Improvement Methods (Cont.)</a:t>
            </a:r>
          </a:p>
        </p:txBody>
      </p:sp>
      <p:sp>
        <p:nvSpPr>
          <p:cNvPr id="69634" name="Rectangle 3">
            <a:extLst>
              <a:ext uri="{FF2B5EF4-FFF2-40B4-BE49-F238E27FC236}">
                <a16:creationId xmlns:a16="http://schemas.microsoft.com/office/drawing/2014/main" id="{3F481CCA-EAD5-44AE-AEC3-68874570EB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5049" y="1188844"/>
            <a:ext cx="7615139" cy="4530725"/>
          </a:xfrm>
        </p:spPr>
        <p:txBody>
          <a:bodyPr/>
          <a:lstStyle/>
          <a:p>
            <a:r>
              <a:rPr lang="en-US" altLang="en-US" dirty="0"/>
              <a:t>Code signing allows a system to trust a program or script by using crypto hash to have the developer sign the executable</a:t>
            </a:r>
          </a:p>
          <a:p>
            <a:pPr lvl="1"/>
            <a:r>
              <a:rPr lang="en-US" altLang="en-US" dirty="0"/>
              <a:t>So code as it was compiled by the author</a:t>
            </a:r>
          </a:p>
          <a:p>
            <a:pPr lvl="1"/>
            <a:r>
              <a:rPr lang="en-US" altLang="en-US" dirty="0"/>
              <a:t>If the code is changed, signature invalid and (some) systems disable execution</a:t>
            </a:r>
          </a:p>
          <a:p>
            <a:pPr lvl="1"/>
            <a:r>
              <a:rPr lang="en-US" altLang="en-US" dirty="0"/>
              <a:t>Can also be used to disable old programs by the operating system vendor (such as Apple) cosigning apps, and then invaliding those signatures so the code will no longer run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>
            <a:extLst>
              <a:ext uri="{FF2B5EF4-FFF2-40B4-BE49-F238E27FC236}">
                <a16:creationId xmlns:a16="http://schemas.microsoft.com/office/drawing/2014/main" id="{DE4DB804-B8BF-41B8-818B-5F03DF95F3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3589" y="248885"/>
            <a:ext cx="7869237" cy="576263"/>
          </a:xfrm>
        </p:spPr>
        <p:txBody>
          <a:bodyPr/>
          <a:lstStyle/>
          <a:p>
            <a:pPr eaLnBrk="1" hangingPunct="1"/>
            <a:r>
              <a:rPr lang="en-US" altLang="en-US"/>
              <a:t>Language-Based Protection</a:t>
            </a:r>
          </a:p>
        </p:txBody>
      </p:sp>
      <p:sp>
        <p:nvSpPr>
          <p:cNvPr id="71682" name="Rectangle 3">
            <a:extLst>
              <a:ext uri="{FF2B5EF4-FFF2-40B4-BE49-F238E27FC236}">
                <a16:creationId xmlns:a16="http://schemas.microsoft.com/office/drawing/2014/main" id="{3BA95214-69E0-4F37-ACC7-EB1C16E263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5049" y="1179513"/>
            <a:ext cx="7615140" cy="4530725"/>
          </a:xfrm>
        </p:spPr>
        <p:txBody>
          <a:bodyPr/>
          <a:lstStyle/>
          <a:p>
            <a:r>
              <a:rPr lang="en-US" altLang="en-US" dirty="0"/>
              <a:t>Specification of protection in a programming language allows the high-level description of policies for the allocation and use of resources</a:t>
            </a:r>
          </a:p>
          <a:p>
            <a:r>
              <a:rPr lang="en-US" altLang="en-US" dirty="0"/>
              <a:t>Language implementation can provide software for protection enforcement when automatic hardware-supported checking is unavailable</a:t>
            </a:r>
          </a:p>
          <a:p>
            <a:r>
              <a:rPr lang="en-US" altLang="en-US" dirty="0"/>
              <a:t>Interpret protection specifications to generate calls on whatever protection system is provided by the hardware and the operating system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>
            <a:extLst>
              <a:ext uri="{FF2B5EF4-FFF2-40B4-BE49-F238E27FC236}">
                <a16:creationId xmlns:a16="http://schemas.microsoft.com/office/drawing/2014/main" id="{95503D60-0783-42BA-A3DE-6E049EE786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8043" y="242923"/>
            <a:ext cx="804545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Protection in Java 2</a:t>
            </a:r>
          </a:p>
        </p:txBody>
      </p:sp>
      <p:sp>
        <p:nvSpPr>
          <p:cNvPr id="73730" name="Rectangle 3">
            <a:extLst>
              <a:ext uri="{FF2B5EF4-FFF2-40B4-BE49-F238E27FC236}">
                <a16:creationId xmlns:a16="http://schemas.microsoft.com/office/drawing/2014/main" id="{086A8001-C4FD-4C5E-9C5C-F080744E3B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9424" y="1174556"/>
            <a:ext cx="7722731" cy="4530725"/>
          </a:xfrm>
        </p:spPr>
        <p:txBody>
          <a:bodyPr/>
          <a:lstStyle/>
          <a:p>
            <a:r>
              <a:rPr lang="en-US" altLang="en-US" dirty="0"/>
              <a:t>Protection is handled by the Java Virtual Machine (JVM)</a:t>
            </a:r>
          </a:p>
          <a:p>
            <a:r>
              <a:rPr lang="en-US" altLang="en-US" dirty="0"/>
              <a:t>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class</a:t>
            </a:r>
            <a:r>
              <a:rPr lang="en-US" altLang="en-US" dirty="0"/>
              <a:t> is assigned a protection domain when it is loaded by the JVM</a:t>
            </a:r>
          </a:p>
          <a:p>
            <a:r>
              <a:rPr lang="en-US" altLang="en-US" dirty="0"/>
              <a:t>The protection domain indicates what operations the class can (and cannot) perform</a:t>
            </a:r>
          </a:p>
          <a:p>
            <a:r>
              <a:rPr lang="en-US" altLang="en-US" dirty="0"/>
              <a:t>If a library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method</a:t>
            </a:r>
            <a:r>
              <a:rPr lang="en-US" altLang="en-US" dirty="0"/>
              <a:t> is invoked that performs a privileged operation, the stack is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inspected</a:t>
            </a:r>
            <a:r>
              <a:rPr lang="en-US" altLang="en-US" dirty="0"/>
              <a:t> to ensure the operation can be performed by the library</a:t>
            </a:r>
          </a:p>
          <a:p>
            <a:r>
              <a:rPr lang="en-US" altLang="en-US" dirty="0"/>
              <a:t>Generally, Java’s load-time and run-time checks enforce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type safety</a:t>
            </a:r>
          </a:p>
          <a:p>
            <a:r>
              <a:rPr lang="en-US" altLang="en-US" dirty="0"/>
              <a:t>Classes effectively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encapsulate</a:t>
            </a:r>
            <a:r>
              <a:rPr lang="en-US" altLang="en-US" dirty="0"/>
              <a:t> and protect data and methods from other classes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>
            <a:extLst>
              <a:ext uri="{FF2B5EF4-FFF2-40B4-BE49-F238E27FC236}">
                <a16:creationId xmlns:a16="http://schemas.microsoft.com/office/drawing/2014/main" id="{3268120A-D247-4833-A471-8A45F6152E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08995" y="247880"/>
            <a:ext cx="795813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Stack Inspection</a:t>
            </a:r>
          </a:p>
        </p:txBody>
      </p:sp>
      <p:pic>
        <p:nvPicPr>
          <p:cNvPr id="75778" name="Picture 2">
            <a:extLst>
              <a:ext uri="{FF2B5EF4-FFF2-40B4-BE49-F238E27FC236}">
                <a16:creationId xmlns:a16="http://schemas.microsoft.com/office/drawing/2014/main" id="{7B6E264E-E752-4687-A3B1-1A768D88B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" y="1933575"/>
            <a:ext cx="7458075" cy="292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>
            <a:extLst>
              <a:ext uri="{FF2B5EF4-FFF2-40B4-BE49-F238E27FC236}">
                <a16:creationId xmlns:a16="http://schemas.microsoft.com/office/drawing/2014/main" id="{FBE18736-AE23-4D48-B752-81F801DB012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262188"/>
          </a:xfrm>
        </p:spPr>
        <p:txBody>
          <a:bodyPr/>
          <a:lstStyle/>
          <a:p>
            <a:pPr eaLnBrk="1" hangingPunct="1"/>
            <a:r>
              <a:rPr lang="en-US" altLang="en-US"/>
              <a:t>End of Chapter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10546</TotalTime>
  <Words>2609</Words>
  <Application>Microsoft Office PowerPoint</Application>
  <PresentationFormat>On-screen Show (4:3)</PresentationFormat>
  <Paragraphs>292</Paragraphs>
  <Slides>42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3" baseType="lpstr">
      <vt:lpstr>Arial</vt:lpstr>
      <vt:lpstr>Courier New</vt:lpstr>
      <vt:lpstr>Helvetica</vt:lpstr>
      <vt:lpstr>Monotype Sorts</vt:lpstr>
      <vt:lpstr>MT Extra</vt:lpstr>
      <vt:lpstr>Symbol</vt:lpstr>
      <vt:lpstr>Times New Roman</vt:lpstr>
      <vt:lpstr>Verdana</vt:lpstr>
      <vt:lpstr>Webdings</vt:lpstr>
      <vt:lpstr>Wingdings</vt:lpstr>
      <vt:lpstr>os-8</vt:lpstr>
      <vt:lpstr>Chapter 17:  Protection</vt:lpstr>
      <vt:lpstr>Chapter 17: Protection</vt:lpstr>
      <vt:lpstr>Objectives</vt:lpstr>
      <vt:lpstr>Goals of Protection</vt:lpstr>
      <vt:lpstr>Principles of Protection</vt:lpstr>
      <vt:lpstr>Principles of Protection (Cont.)</vt:lpstr>
      <vt:lpstr>Protection Rings</vt:lpstr>
      <vt:lpstr>Protection Rings (MULTICS)</vt:lpstr>
      <vt:lpstr>Android use of TrustZone</vt:lpstr>
      <vt:lpstr>ARM CPU Architecture</vt:lpstr>
      <vt:lpstr>Domain of Protection</vt:lpstr>
      <vt:lpstr>Domain of Protection (Cont.)</vt:lpstr>
      <vt:lpstr>Domain Structure</vt:lpstr>
      <vt:lpstr>Domain Implementation (UNIX)</vt:lpstr>
      <vt:lpstr>Domain Implementation (Android App IDs)</vt:lpstr>
      <vt:lpstr>Access Matrix</vt:lpstr>
      <vt:lpstr>Use of Access Matrix</vt:lpstr>
      <vt:lpstr>Use of Access Matrix (Cont.)</vt:lpstr>
      <vt:lpstr>Access Matrix of Figure A with Domains as Objects</vt:lpstr>
      <vt:lpstr>Access Matrix with Copy Rights</vt:lpstr>
      <vt:lpstr>Access Matrix With Owner Rights</vt:lpstr>
      <vt:lpstr>Modified Access Matrix of Figure B</vt:lpstr>
      <vt:lpstr>Implementation of Access Matrix</vt:lpstr>
      <vt:lpstr>Implementation of Access Matrix (Cont.)</vt:lpstr>
      <vt:lpstr>Implementation of Access Matrix (Cont.)</vt:lpstr>
      <vt:lpstr>Implementation of Access Matrix (Cont.)</vt:lpstr>
      <vt:lpstr>Implementation of Access Matrix (Cont.)</vt:lpstr>
      <vt:lpstr>Comparison of Implementations</vt:lpstr>
      <vt:lpstr>Comparison of Implementations (Cont.)</vt:lpstr>
      <vt:lpstr>Revocation of Access Rights</vt:lpstr>
      <vt:lpstr>Revocation of Access Rights (Cont.)</vt:lpstr>
      <vt:lpstr>Role-based Access Control</vt:lpstr>
      <vt:lpstr>Mandatory Access Control (MAC)</vt:lpstr>
      <vt:lpstr>Capability-Based Systems </vt:lpstr>
      <vt:lpstr>Capabilities in POSIX.1e </vt:lpstr>
      <vt:lpstr>Other Protection Improvement Methods</vt:lpstr>
      <vt:lpstr>Other Protection Improvement Methods (Cont.)</vt:lpstr>
      <vt:lpstr>Other Protection Improvement Methods (Cont.)</vt:lpstr>
      <vt:lpstr>Language-Based Protection</vt:lpstr>
      <vt:lpstr>Protection in Java 2</vt:lpstr>
      <vt:lpstr>Stack Inspection</vt:lpstr>
      <vt:lpstr>End of Chapter 17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Saleha Nadeem</cp:lastModifiedBy>
  <cp:revision>231</cp:revision>
  <cp:lastPrinted>2013-09-10T17:57:57Z</cp:lastPrinted>
  <dcterms:created xsi:type="dcterms:W3CDTF">2011-01-13T23:43:38Z</dcterms:created>
  <dcterms:modified xsi:type="dcterms:W3CDTF">2026-01-08T21:14:43Z</dcterms:modified>
</cp:coreProperties>
</file>